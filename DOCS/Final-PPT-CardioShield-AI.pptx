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rimo Bold" panose="020B0604020202020204" charset="0"/>
      <p:regular r:id="rId14"/>
    </p:embeddedFont>
    <p:embeddedFont>
      <p:font typeface="Barlow" panose="00000500000000000000" pitchFamily="2" charset="0"/>
      <p:regular r:id="rId15"/>
    </p:embeddedFont>
    <p:embeddedFont>
      <p:font typeface="Barlow Bold" panose="020B0604020202020204" charset="0"/>
      <p:regular r:id="rId16"/>
    </p:embeddedFont>
    <p:embeddedFont>
      <p:font typeface="Barlow Italic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138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3" Type="http://schemas.openxmlformats.org/officeDocument/2006/relationships/image" Target="../media/image1.png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5" Type="http://schemas.openxmlformats.org/officeDocument/2006/relationships/image" Target="../media/image2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Relationship Id="rId1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85763" y="-76498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49015" y="9686925"/>
            <a:ext cx="2153260" cy="514350"/>
            <a:chOff x="0" y="0"/>
            <a:chExt cx="2871013" cy="685800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80049" y="2769984"/>
            <a:ext cx="685800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CardioShield AI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0049" y="4013892"/>
            <a:ext cx="9269911" cy="750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0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AI-Powered Early Cardiovascular Risk Detection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80049" y="5952382"/>
            <a:ext cx="1275007" cy="580130"/>
            <a:chOff x="0" y="0"/>
            <a:chExt cx="1700009" cy="7735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99895" cy="773430"/>
            </a:xfrm>
            <a:custGeom>
              <a:avLst/>
              <a:gdLst/>
              <a:ahLst/>
              <a:cxnLst/>
              <a:rect l="l" t="t" r="r" b="b"/>
              <a:pathLst>
                <a:path w="1699895" h="773430">
                  <a:moveTo>
                    <a:pt x="0" y="386715"/>
                  </a:moveTo>
                  <a:cubicBezTo>
                    <a:pt x="0" y="173101"/>
                    <a:pt x="173101" y="0"/>
                    <a:pt x="386715" y="0"/>
                  </a:cubicBezTo>
                  <a:lnTo>
                    <a:pt x="1313180" y="0"/>
                  </a:lnTo>
                  <a:cubicBezTo>
                    <a:pt x="1526794" y="0"/>
                    <a:pt x="1699895" y="173101"/>
                    <a:pt x="1699895" y="386715"/>
                  </a:cubicBezTo>
                  <a:cubicBezTo>
                    <a:pt x="1699895" y="600329"/>
                    <a:pt x="1526794" y="773430"/>
                    <a:pt x="1313180" y="773430"/>
                  </a:cubicBezTo>
                  <a:lnTo>
                    <a:pt x="386715" y="773430"/>
                  </a:lnTo>
                  <a:cubicBezTo>
                    <a:pt x="173101" y="773557"/>
                    <a:pt x="0" y="600329"/>
                    <a:pt x="0" y="386715"/>
                  </a:cubicBezTo>
                  <a:close/>
                </a:path>
              </a:pathLst>
            </a:custGeom>
            <a:solidFill>
              <a:srgbClr val="004D36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261624" y="6029686"/>
            <a:ext cx="904723" cy="349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18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PYTHON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509247" y="5952382"/>
            <a:ext cx="1920183" cy="580130"/>
            <a:chOff x="0" y="0"/>
            <a:chExt cx="2560244" cy="7735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60193" cy="773430"/>
            </a:xfrm>
            <a:custGeom>
              <a:avLst/>
              <a:gdLst/>
              <a:ahLst/>
              <a:cxnLst/>
              <a:rect l="l" t="t" r="r" b="b"/>
              <a:pathLst>
                <a:path w="2560193" h="773430">
                  <a:moveTo>
                    <a:pt x="0" y="386715"/>
                  </a:moveTo>
                  <a:cubicBezTo>
                    <a:pt x="0" y="173101"/>
                    <a:pt x="173101" y="0"/>
                    <a:pt x="386715" y="0"/>
                  </a:cubicBezTo>
                  <a:lnTo>
                    <a:pt x="2173478" y="0"/>
                  </a:lnTo>
                  <a:cubicBezTo>
                    <a:pt x="2387092" y="0"/>
                    <a:pt x="2560193" y="173101"/>
                    <a:pt x="2560193" y="386715"/>
                  </a:cubicBezTo>
                  <a:cubicBezTo>
                    <a:pt x="2560193" y="600329"/>
                    <a:pt x="2387092" y="773430"/>
                    <a:pt x="2173478" y="773430"/>
                  </a:cubicBezTo>
                  <a:lnTo>
                    <a:pt x="386715" y="773430"/>
                  </a:lnTo>
                  <a:cubicBezTo>
                    <a:pt x="173101" y="773557"/>
                    <a:pt x="0" y="600329"/>
                    <a:pt x="0" y="386715"/>
                  </a:cubicBezTo>
                  <a:close/>
                </a:path>
              </a:pathLst>
            </a:custGeom>
            <a:solidFill>
              <a:srgbClr val="004D36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2690813" y="6029686"/>
            <a:ext cx="1549898" cy="349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18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SCIKIT-LEARN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869629" y="5952382"/>
            <a:ext cx="1404490" cy="580130"/>
            <a:chOff x="0" y="0"/>
            <a:chExt cx="1872653" cy="77350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872615" cy="773557"/>
            </a:xfrm>
            <a:custGeom>
              <a:avLst/>
              <a:gdLst/>
              <a:ahLst/>
              <a:cxnLst/>
              <a:rect l="l" t="t" r="r" b="b"/>
              <a:pathLst>
                <a:path w="1872615" h="773557">
                  <a:moveTo>
                    <a:pt x="0" y="386715"/>
                  </a:moveTo>
                  <a:cubicBezTo>
                    <a:pt x="0" y="173101"/>
                    <a:pt x="173101" y="0"/>
                    <a:pt x="386715" y="0"/>
                  </a:cubicBezTo>
                  <a:lnTo>
                    <a:pt x="1485900" y="0"/>
                  </a:lnTo>
                  <a:cubicBezTo>
                    <a:pt x="1699514" y="0"/>
                    <a:pt x="1872615" y="173101"/>
                    <a:pt x="1872615" y="386715"/>
                  </a:cubicBezTo>
                  <a:cubicBezTo>
                    <a:pt x="1872615" y="600329"/>
                    <a:pt x="1699514" y="773557"/>
                    <a:pt x="1485900" y="773557"/>
                  </a:cubicBezTo>
                  <a:lnTo>
                    <a:pt x="386715" y="773557"/>
                  </a:lnTo>
                  <a:cubicBezTo>
                    <a:pt x="173101" y="773557"/>
                    <a:pt x="0" y="600329"/>
                    <a:pt x="0" y="386715"/>
                  </a:cubicBezTo>
                  <a:close/>
                </a:path>
              </a:pathLst>
            </a:custGeom>
            <a:solidFill>
              <a:srgbClr val="004D36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6058348" y="6029686"/>
            <a:ext cx="1034205" cy="349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18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XGBOOST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7428309" y="5952382"/>
            <a:ext cx="1498102" cy="580130"/>
            <a:chOff x="0" y="0"/>
            <a:chExt cx="1997469" cy="77350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97329" cy="773430"/>
            </a:xfrm>
            <a:custGeom>
              <a:avLst/>
              <a:gdLst/>
              <a:ahLst/>
              <a:cxnLst/>
              <a:rect l="l" t="t" r="r" b="b"/>
              <a:pathLst>
                <a:path w="1997329" h="773430">
                  <a:moveTo>
                    <a:pt x="0" y="386715"/>
                  </a:moveTo>
                  <a:cubicBezTo>
                    <a:pt x="0" y="173101"/>
                    <a:pt x="173101" y="0"/>
                    <a:pt x="386715" y="0"/>
                  </a:cubicBezTo>
                  <a:lnTo>
                    <a:pt x="1610614" y="0"/>
                  </a:lnTo>
                  <a:cubicBezTo>
                    <a:pt x="1824228" y="0"/>
                    <a:pt x="1997329" y="173101"/>
                    <a:pt x="1997329" y="386715"/>
                  </a:cubicBezTo>
                  <a:cubicBezTo>
                    <a:pt x="1997329" y="600329"/>
                    <a:pt x="1824228" y="773430"/>
                    <a:pt x="1610614" y="773430"/>
                  </a:cubicBezTo>
                  <a:lnTo>
                    <a:pt x="386715" y="773430"/>
                  </a:lnTo>
                  <a:cubicBezTo>
                    <a:pt x="173101" y="773557"/>
                    <a:pt x="0" y="600329"/>
                    <a:pt x="0" y="386715"/>
                  </a:cubicBezTo>
                  <a:close/>
                </a:path>
              </a:pathLst>
            </a:custGeom>
            <a:solidFill>
              <a:srgbClr val="004D36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7617019" y="6029686"/>
            <a:ext cx="1127817" cy="349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18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LIGHTGBM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80049" y="6879584"/>
            <a:ext cx="2603744" cy="580130"/>
            <a:chOff x="0" y="0"/>
            <a:chExt cx="3471659" cy="77350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471672" cy="773430"/>
            </a:xfrm>
            <a:custGeom>
              <a:avLst/>
              <a:gdLst/>
              <a:ahLst/>
              <a:cxnLst/>
              <a:rect l="l" t="t" r="r" b="b"/>
              <a:pathLst>
                <a:path w="3471672" h="773430">
                  <a:moveTo>
                    <a:pt x="0" y="386715"/>
                  </a:moveTo>
                  <a:cubicBezTo>
                    <a:pt x="0" y="173101"/>
                    <a:pt x="173101" y="0"/>
                    <a:pt x="386715" y="0"/>
                  </a:cubicBezTo>
                  <a:lnTo>
                    <a:pt x="3084957" y="0"/>
                  </a:lnTo>
                  <a:cubicBezTo>
                    <a:pt x="3298571" y="0"/>
                    <a:pt x="3471672" y="173101"/>
                    <a:pt x="3471672" y="386715"/>
                  </a:cubicBezTo>
                  <a:cubicBezTo>
                    <a:pt x="3471672" y="600329"/>
                    <a:pt x="3298571" y="773430"/>
                    <a:pt x="3084957" y="773430"/>
                  </a:cubicBezTo>
                  <a:lnTo>
                    <a:pt x="386715" y="773430"/>
                  </a:lnTo>
                  <a:cubicBezTo>
                    <a:pt x="173101" y="773557"/>
                    <a:pt x="0" y="600329"/>
                    <a:pt x="0" y="386715"/>
                  </a:cubicBezTo>
                  <a:close/>
                </a:path>
              </a:pathLst>
            </a:custGeom>
            <a:solidFill>
              <a:srgbClr val="004D36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1235878" y="6923037"/>
            <a:ext cx="2233460" cy="349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18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NEURAL NETWORKS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3837984" y="6879584"/>
            <a:ext cx="1600495" cy="580130"/>
            <a:chOff x="0" y="0"/>
            <a:chExt cx="2133994" cy="77350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33981" cy="773557"/>
            </a:xfrm>
            <a:custGeom>
              <a:avLst/>
              <a:gdLst/>
              <a:ahLst/>
              <a:cxnLst/>
              <a:rect l="l" t="t" r="r" b="b"/>
              <a:pathLst>
                <a:path w="2133981" h="773557">
                  <a:moveTo>
                    <a:pt x="0" y="386715"/>
                  </a:moveTo>
                  <a:cubicBezTo>
                    <a:pt x="0" y="173101"/>
                    <a:pt x="173101" y="0"/>
                    <a:pt x="386715" y="0"/>
                  </a:cubicBezTo>
                  <a:lnTo>
                    <a:pt x="1747266" y="0"/>
                  </a:lnTo>
                  <a:cubicBezTo>
                    <a:pt x="1960880" y="0"/>
                    <a:pt x="2133981" y="173101"/>
                    <a:pt x="2133981" y="386715"/>
                  </a:cubicBezTo>
                  <a:cubicBezTo>
                    <a:pt x="2133981" y="600329"/>
                    <a:pt x="1960880" y="773557"/>
                    <a:pt x="1747266" y="773557"/>
                  </a:cubicBezTo>
                  <a:lnTo>
                    <a:pt x="386715" y="773557"/>
                  </a:lnTo>
                  <a:cubicBezTo>
                    <a:pt x="173101" y="773557"/>
                    <a:pt x="0" y="600329"/>
                    <a:pt x="0" y="386715"/>
                  </a:cubicBezTo>
                  <a:close/>
                </a:path>
              </a:pathLst>
            </a:custGeom>
            <a:solidFill>
              <a:srgbClr val="004D36"/>
            </a:solidFill>
          </p:spPr>
        </p:sp>
      </p:grpSp>
      <p:sp>
        <p:nvSpPr>
          <p:cNvPr id="32" name="TextBox 32"/>
          <p:cNvSpPr txBox="1"/>
          <p:nvPr/>
        </p:nvSpPr>
        <p:spPr>
          <a:xfrm>
            <a:off x="4023122" y="6923037"/>
            <a:ext cx="1230211" cy="349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18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ENSEMBLE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4647829" y="5952325"/>
            <a:ext cx="1096861" cy="580130"/>
            <a:chOff x="0" y="0"/>
            <a:chExt cx="1462481" cy="77350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462405" cy="773557"/>
            </a:xfrm>
            <a:custGeom>
              <a:avLst/>
              <a:gdLst/>
              <a:ahLst/>
              <a:cxnLst/>
              <a:rect l="l" t="t" r="r" b="b"/>
              <a:pathLst>
                <a:path w="1462405" h="773557">
                  <a:moveTo>
                    <a:pt x="0" y="386715"/>
                  </a:moveTo>
                  <a:cubicBezTo>
                    <a:pt x="0" y="173101"/>
                    <a:pt x="173101" y="0"/>
                    <a:pt x="386715" y="0"/>
                  </a:cubicBezTo>
                  <a:lnTo>
                    <a:pt x="1075690" y="0"/>
                  </a:lnTo>
                  <a:cubicBezTo>
                    <a:pt x="1289304" y="0"/>
                    <a:pt x="1462405" y="173101"/>
                    <a:pt x="1462405" y="386715"/>
                  </a:cubicBezTo>
                  <a:cubicBezTo>
                    <a:pt x="1462405" y="600329"/>
                    <a:pt x="1289304" y="773557"/>
                    <a:pt x="1075690" y="773557"/>
                  </a:cubicBezTo>
                  <a:lnTo>
                    <a:pt x="386715" y="773557"/>
                  </a:lnTo>
                  <a:cubicBezTo>
                    <a:pt x="173101" y="773557"/>
                    <a:pt x="0" y="600329"/>
                    <a:pt x="0" y="386715"/>
                  </a:cubicBezTo>
                  <a:close/>
                </a:path>
              </a:pathLst>
            </a:custGeom>
            <a:solidFill>
              <a:srgbClr val="004D36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4859835" y="6067748"/>
            <a:ext cx="726577" cy="349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1837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FLASK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80049" y="977798"/>
            <a:ext cx="16127911" cy="166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49"/>
              </a:lnSpc>
            </a:pPr>
            <a:r>
              <a:rPr lang="en-US" sz="5374" b="1" dirty="0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The Critical Need: Addressing Cardiovascular Diseases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60999" y="3347590"/>
            <a:ext cx="7947717" cy="2826544"/>
            <a:chOff x="0" y="0"/>
            <a:chExt cx="10596956" cy="3768725"/>
          </a:xfrm>
        </p:grpSpPr>
        <p:sp>
          <p:nvSpPr>
            <p:cNvPr id="8" name="Freeform 8"/>
            <p:cNvSpPr/>
            <p:nvPr/>
          </p:nvSpPr>
          <p:spPr>
            <a:xfrm>
              <a:off x="25400" y="25400"/>
              <a:ext cx="10546207" cy="3717925"/>
            </a:xfrm>
            <a:custGeom>
              <a:avLst/>
              <a:gdLst/>
              <a:ahLst/>
              <a:cxnLst/>
              <a:rect l="l" t="t" r="r" b="b"/>
              <a:pathLst>
                <a:path w="10546207" h="3717925">
                  <a:moveTo>
                    <a:pt x="0" y="243840"/>
                  </a:moveTo>
                  <a:cubicBezTo>
                    <a:pt x="0" y="109220"/>
                    <a:pt x="110109" y="0"/>
                    <a:pt x="245999" y="0"/>
                  </a:cubicBezTo>
                  <a:lnTo>
                    <a:pt x="10300208" y="0"/>
                  </a:lnTo>
                  <a:cubicBezTo>
                    <a:pt x="10436098" y="0"/>
                    <a:pt x="10546207" y="109220"/>
                    <a:pt x="10546207" y="243840"/>
                  </a:cubicBezTo>
                  <a:lnTo>
                    <a:pt x="10546207" y="3474085"/>
                  </a:lnTo>
                  <a:cubicBezTo>
                    <a:pt x="10546207" y="3608705"/>
                    <a:pt x="10436098" y="3717925"/>
                    <a:pt x="10300208" y="3717925"/>
                  </a:cubicBezTo>
                  <a:lnTo>
                    <a:pt x="245999" y="3717925"/>
                  </a:lnTo>
                  <a:cubicBezTo>
                    <a:pt x="110109" y="3717925"/>
                    <a:pt x="0" y="3608705"/>
                    <a:pt x="0" y="3474085"/>
                  </a:cubicBez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0597007" cy="3768725"/>
            </a:xfrm>
            <a:custGeom>
              <a:avLst/>
              <a:gdLst/>
              <a:ahLst/>
              <a:cxnLst/>
              <a:rect l="l" t="t" r="r" b="b"/>
              <a:pathLst>
                <a:path w="10597007" h="3768725">
                  <a:moveTo>
                    <a:pt x="0" y="269240"/>
                  </a:moveTo>
                  <a:cubicBezTo>
                    <a:pt x="0" y="120269"/>
                    <a:pt x="121666" y="0"/>
                    <a:pt x="271399" y="0"/>
                  </a:cubicBezTo>
                  <a:lnTo>
                    <a:pt x="10325608" y="0"/>
                  </a:lnTo>
                  <a:lnTo>
                    <a:pt x="10325608" y="25400"/>
                  </a:lnTo>
                  <a:lnTo>
                    <a:pt x="10325608" y="0"/>
                  </a:lnTo>
                  <a:cubicBezTo>
                    <a:pt x="10475214" y="0"/>
                    <a:pt x="10597007" y="120269"/>
                    <a:pt x="10597007" y="269240"/>
                  </a:cubicBezTo>
                  <a:lnTo>
                    <a:pt x="10571607" y="269240"/>
                  </a:lnTo>
                  <a:lnTo>
                    <a:pt x="10597007" y="269240"/>
                  </a:lnTo>
                  <a:lnTo>
                    <a:pt x="10597007" y="3499485"/>
                  </a:lnTo>
                  <a:lnTo>
                    <a:pt x="10571607" y="3499485"/>
                  </a:lnTo>
                  <a:lnTo>
                    <a:pt x="10597007" y="3499485"/>
                  </a:lnTo>
                  <a:cubicBezTo>
                    <a:pt x="10597007" y="3648329"/>
                    <a:pt x="10475340" y="3768725"/>
                    <a:pt x="10325608" y="3768725"/>
                  </a:cubicBezTo>
                  <a:lnTo>
                    <a:pt x="10325608" y="3743325"/>
                  </a:lnTo>
                  <a:lnTo>
                    <a:pt x="10325608" y="3768725"/>
                  </a:lnTo>
                  <a:lnTo>
                    <a:pt x="271399" y="3768725"/>
                  </a:lnTo>
                  <a:lnTo>
                    <a:pt x="271399" y="3743325"/>
                  </a:lnTo>
                  <a:lnTo>
                    <a:pt x="271399" y="3768725"/>
                  </a:lnTo>
                  <a:cubicBezTo>
                    <a:pt x="121666" y="3768725"/>
                    <a:pt x="0" y="3648456"/>
                    <a:pt x="0" y="3499485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499485"/>
                  </a:lnTo>
                  <a:lnTo>
                    <a:pt x="25400" y="3499485"/>
                  </a:lnTo>
                  <a:lnTo>
                    <a:pt x="50800" y="3499485"/>
                  </a:lnTo>
                  <a:cubicBezTo>
                    <a:pt x="50800" y="3619881"/>
                    <a:pt x="149352" y="3717925"/>
                    <a:pt x="271399" y="3717925"/>
                  </a:cubicBezTo>
                  <a:lnTo>
                    <a:pt x="10325608" y="3717925"/>
                  </a:lnTo>
                  <a:cubicBezTo>
                    <a:pt x="10447655" y="3717925"/>
                    <a:pt x="10546207" y="3619881"/>
                    <a:pt x="10546207" y="3499485"/>
                  </a:cubicBezTo>
                  <a:lnTo>
                    <a:pt x="10546207" y="269240"/>
                  </a:lnTo>
                  <a:cubicBezTo>
                    <a:pt x="10546207" y="148844"/>
                    <a:pt x="10447655" y="50800"/>
                    <a:pt x="10325608" y="50800"/>
                  </a:cubicBezTo>
                  <a:lnTo>
                    <a:pt x="271399" y="50800"/>
                  </a:lnTo>
                  <a:lnTo>
                    <a:pt x="271399" y="25400"/>
                  </a:lnTo>
                  <a:lnTo>
                    <a:pt x="271399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041949" y="3366640"/>
            <a:ext cx="152400" cy="2788444"/>
            <a:chOff x="0" y="0"/>
            <a:chExt cx="203200" cy="37179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3200" cy="3717925"/>
            </a:xfrm>
            <a:custGeom>
              <a:avLst/>
              <a:gdLst/>
              <a:ahLst/>
              <a:cxnLst/>
              <a:rect l="l" t="t" r="r" b="b"/>
              <a:pathLst>
                <a:path w="203200" h="3717925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616325"/>
                  </a:lnTo>
                  <a:cubicBezTo>
                    <a:pt x="203200" y="3672459"/>
                    <a:pt x="157734" y="3717925"/>
                    <a:pt x="101600" y="3717925"/>
                  </a:cubicBezTo>
                  <a:cubicBezTo>
                    <a:pt x="45466" y="3717925"/>
                    <a:pt x="0" y="3672459"/>
                    <a:pt x="0" y="3616325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540964" y="3684689"/>
            <a:ext cx="5469436" cy="405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 dirty="0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Global Mortality Crisis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0964" y="4222252"/>
            <a:ext cx="7102078" cy="1092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Cardiovascular diseases remain the </a:t>
            </a:r>
            <a:r>
              <a:rPr lang="en-US" sz="2375" b="1" dirty="0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leading cause of death worldwide</a:t>
            </a:r>
            <a:r>
              <a:rPr lang="en-US" sz="2375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, demanding urgent solutions.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279141" y="3347590"/>
            <a:ext cx="7947870" cy="2826544"/>
            <a:chOff x="0" y="0"/>
            <a:chExt cx="10597159" cy="3768725"/>
          </a:xfrm>
        </p:grpSpPr>
        <p:sp>
          <p:nvSpPr>
            <p:cNvPr id="15" name="Freeform 15"/>
            <p:cNvSpPr/>
            <p:nvPr/>
          </p:nvSpPr>
          <p:spPr>
            <a:xfrm>
              <a:off x="25400" y="25400"/>
              <a:ext cx="10546334" cy="3717925"/>
            </a:xfrm>
            <a:custGeom>
              <a:avLst/>
              <a:gdLst/>
              <a:ahLst/>
              <a:cxnLst/>
              <a:rect l="l" t="t" r="r" b="b"/>
              <a:pathLst>
                <a:path w="10546334" h="3717925">
                  <a:moveTo>
                    <a:pt x="0" y="243840"/>
                  </a:moveTo>
                  <a:cubicBezTo>
                    <a:pt x="0" y="109220"/>
                    <a:pt x="110109" y="0"/>
                    <a:pt x="245999" y="0"/>
                  </a:cubicBezTo>
                  <a:lnTo>
                    <a:pt x="10300335" y="0"/>
                  </a:lnTo>
                  <a:cubicBezTo>
                    <a:pt x="10436225" y="0"/>
                    <a:pt x="10546334" y="109220"/>
                    <a:pt x="10546334" y="243840"/>
                  </a:cubicBezTo>
                  <a:lnTo>
                    <a:pt x="10546334" y="3474085"/>
                  </a:lnTo>
                  <a:cubicBezTo>
                    <a:pt x="10546334" y="3608705"/>
                    <a:pt x="10436225" y="3717925"/>
                    <a:pt x="10300335" y="3717925"/>
                  </a:cubicBezTo>
                  <a:lnTo>
                    <a:pt x="245999" y="3717925"/>
                  </a:lnTo>
                  <a:cubicBezTo>
                    <a:pt x="110109" y="3717925"/>
                    <a:pt x="0" y="3608705"/>
                    <a:pt x="0" y="3474085"/>
                  </a:cubicBez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10597134" cy="3768725"/>
            </a:xfrm>
            <a:custGeom>
              <a:avLst/>
              <a:gdLst/>
              <a:ahLst/>
              <a:cxnLst/>
              <a:rect l="l" t="t" r="r" b="b"/>
              <a:pathLst>
                <a:path w="10597134" h="3768725">
                  <a:moveTo>
                    <a:pt x="0" y="269240"/>
                  </a:moveTo>
                  <a:cubicBezTo>
                    <a:pt x="0" y="120269"/>
                    <a:pt x="121666" y="0"/>
                    <a:pt x="271399" y="0"/>
                  </a:cubicBezTo>
                  <a:lnTo>
                    <a:pt x="10325735" y="0"/>
                  </a:lnTo>
                  <a:lnTo>
                    <a:pt x="10325735" y="25400"/>
                  </a:lnTo>
                  <a:lnTo>
                    <a:pt x="10325735" y="0"/>
                  </a:lnTo>
                  <a:cubicBezTo>
                    <a:pt x="10475341" y="0"/>
                    <a:pt x="10597134" y="120269"/>
                    <a:pt x="10597134" y="269240"/>
                  </a:cubicBezTo>
                  <a:lnTo>
                    <a:pt x="10571734" y="269240"/>
                  </a:lnTo>
                  <a:lnTo>
                    <a:pt x="10597134" y="269240"/>
                  </a:lnTo>
                  <a:lnTo>
                    <a:pt x="10597134" y="3499485"/>
                  </a:lnTo>
                  <a:lnTo>
                    <a:pt x="10571734" y="3499485"/>
                  </a:lnTo>
                  <a:lnTo>
                    <a:pt x="10597134" y="3499485"/>
                  </a:lnTo>
                  <a:cubicBezTo>
                    <a:pt x="10597134" y="3648329"/>
                    <a:pt x="10475468" y="3768725"/>
                    <a:pt x="10325735" y="3768725"/>
                  </a:cubicBezTo>
                  <a:lnTo>
                    <a:pt x="10325735" y="3743325"/>
                  </a:lnTo>
                  <a:lnTo>
                    <a:pt x="10325735" y="3768725"/>
                  </a:lnTo>
                  <a:lnTo>
                    <a:pt x="271399" y="3768725"/>
                  </a:lnTo>
                  <a:lnTo>
                    <a:pt x="271399" y="3743325"/>
                  </a:lnTo>
                  <a:lnTo>
                    <a:pt x="271399" y="3768725"/>
                  </a:lnTo>
                  <a:cubicBezTo>
                    <a:pt x="121666" y="3768725"/>
                    <a:pt x="0" y="3648456"/>
                    <a:pt x="0" y="3499485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499485"/>
                  </a:lnTo>
                  <a:lnTo>
                    <a:pt x="25400" y="3499485"/>
                  </a:lnTo>
                  <a:lnTo>
                    <a:pt x="50800" y="3499485"/>
                  </a:lnTo>
                  <a:cubicBezTo>
                    <a:pt x="50800" y="3619881"/>
                    <a:pt x="149352" y="3717925"/>
                    <a:pt x="271399" y="3717925"/>
                  </a:cubicBezTo>
                  <a:lnTo>
                    <a:pt x="10325735" y="3717925"/>
                  </a:lnTo>
                  <a:cubicBezTo>
                    <a:pt x="10447782" y="3717925"/>
                    <a:pt x="10546334" y="3619881"/>
                    <a:pt x="10546334" y="3499485"/>
                  </a:cubicBezTo>
                  <a:lnTo>
                    <a:pt x="10546334" y="269240"/>
                  </a:lnTo>
                  <a:cubicBezTo>
                    <a:pt x="10546334" y="148844"/>
                    <a:pt x="10447782" y="50800"/>
                    <a:pt x="10325735" y="50800"/>
                  </a:cubicBezTo>
                  <a:lnTo>
                    <a:pt x="271399" y="50800"/>
                  </a:lnTo>
                  <a:lnTo>
                    <a:pt x="271399" y="25400"/>
                  </a:lnTo>
                  <a:lnTo>
                    <a:pt x="271399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260091" y="3366640"/>
            <a:ext cx="152400" cy="2788444"/>
            <a:chOff x="0" y="0"/>
            <a:chExt cx="203200" cy="371792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3200" cy="3717925"/>
            </a:xfrm>
            <a:custGeom>
              <a:avLst/>
              <a:gdLst/>
              <a:ahLst/>
              <a:cxnLst/>
              <a:rect l="l" t="t" r="r" b="b"/>
              <a:pathLst>
                <a:path w="203200" h="3717925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616325"/>
                  </a:lnTo>
                  <a:cubicBezTo>
                    <a:pt x="203200" y="3672459"/>
                    <a:pt x="157734" y="3717925"/>
                    <a:pt x="101600" y="3717925"/>
                  </a:cubicBezTo>
                  <a:cubicBezTo>
                    <a:pt x="45466" y="3717925"/>
                    <a:pt x="0" y="3672459"/>
                    <a:pt x="0" y="3616325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9759104" y="3684689"/>
            <a:ext cx="5557095" cy="405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 dirty="0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Early Detection Saves Lives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59105" y="4222252"/>
            <a:ext cx="7102231" cy="1586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Timely prediction of risk factors can significantly </a:t>
            </a:r>
            <a:r>
              <a:rPr lang="en-US" sz="2375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reduce mortality rates</a:t>
            </a: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and improve patient outcomes.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60999" y="6444558"/>
            <a:ext cx="7947717" cy="2826544"/>
            <a:chOff x="0" y="0"/>
            <a:chExt cx="10596956" cy="3768725"/>
          </a:xfrm>
        </p:grpSpPr>
        <p:sp>
          <p:nvSpPr>
            <p:cNvPr id="22" name="Freeform 22"/>
            <p:cNvSpPr/>
            <p:nvPr/>
          </p:nvSpPr>
          <p:spPr>
            <a:xfrm>
              <a:off x="25400" y="25400"/>
              <a:ext cx="10546207" cy="3717925"/>
            </a:xfrm>
            <a:custGeom>
              <a:avLst/>
              <a:gdLst/>
              <a:ahLst/>
              <a:cxnLst/>
              <a:rect l="l" t="t" r="r" b="b"/>
              <a:pathLst>
                <a:path w="10546207" h="3717925">
                  <a:moveTo>
                    <a:pt x="0" y="243840"/>
                  </a:moveTo>
                  <a:cubicBezTo>
                    <a:pt x="0" y="109220"/>
                    <a:pt x="110109" y="0"/>
                    <a:pt x="245999" y="0"/>
                  </a:cubicBezTo>
                  <a:lnTo>
                    <a:pt x="10300208" y="0"/>
                  </a:lnTo>
                  <a:cubicBezTo>
                    <a:pt x="10436098" y="0"/>
                    <a:pt x="10546207" y="109220"/>
                    <a:pt x="10546207" y="243840"/>
                  </a:cubicBezTo>
                  <a:lnTo>
                    <a:pt x="10546207" y="3474085"/>
                  </a:lnTo>
                  <a:cubicBezTo>
                    <a:pt x="10546207" y="3608705"/>
                    <a:pt x="10436098" y="3717925"/>
                    <a:pt x="10300208" y="3717925"/>
                  </a:cubicBezTo>
                  <a:lnTo>
                    <a:pt x="245999" y="3717925"/>
                  </a:lnTo>
                  <a:cubicBezTo>
                    <a:pt x="110109" y="3717925"/>
                    <a:pt x="0" y="3608705"/>
                    <a:pt x="0" y="3474085"/>
                  </a:cubicBez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10597007" cy="3768725"/>
            </a:xfrm>
            <a:custGeom>
              <a:avLst/>
              <a:gdLst/>
              <a:ahLst/>
              <a:cxnLst/>
              <a:rect l="l" t="t" r="r" b="b"/>
              <a:pathLst>
                <a:path w="10597007" h="3768725">
                  <a:moveTo>
                    <a:pt x="0" y="269240"/>
                  </a:moveTo>
                  <a:cubicBezTo>
                    <a:pt x="0" y="120269"/>
                    <a:pt x="121666" y="0"/>
                    <a:pt x="271399" y="0"/>
                  </a:cubicBezTo>
                  <a:lnTo>
                    <a:pt x="10325608" y="0"/>
                  </a:lnTo>
                  <a:lnTo>
                    <a:pt x="10325608" y="25400"/>
                  </a:lnTo>
                  <a:lnTo>
                    <a:pt x="10325608" y="0"/>
                  </a:lnTo>
                  <a:cubicBezTo>
                    <a:pt x="10475214" y="0"/>
                    <a:pt x="10597007" y="120269"/>
                    <a:pt x="10597007" y="269240"/>
                  </a:cubicBezTo>
                  <a:lnTo>
                    <a:pt x="10571607" y="269240"/>
                  </a:lnTo>
                  <a:lnTo>
                    <a:pt x="10597007" y="269240"/>
                  </a:lnTo>
                  <a:lnTo>
                    <a:pt x="10597007" y="3499485"/>
                  </a:lnTo>
                  <a:lnTo>
                    <a:pt x="10571607" y="3499485"/>
                  </a:lnTo>
                  <a:lnTo>
                    <a:pt x="10597007" y="3499485"/>
                  </a:lnTo>
                  <a:cubicBezTo>
                    <a:pt x="10597007" y="3648329"/>
                    <a:pt x="10475340" y="3768725"/>
                    <a:pt x="10325608" y="3768725"/>
                  </a:cubicBezTo>
                  <a:lnTo>
                    <a:pt x="10325608" y="3743325"/>
                  </a:lnTo>
                  <a:lnTo>
                    <a:pt x="10325608" y="3768725"/>
                  </a:lnTo>
                  <a:lnTo>
                    <a:pt x="271399" y="3768725"/>
                  </a:lnTo>
                  <a:lnTo>
                    <a:pt x="271399" y="3743325"/>
                  </a:lnTo>
                  <a:lnTo>
                    <a:pt x="271399" y="3768725"/>
                  </a:lnTo>
                  <a:cubicBezTo>
                    <a:pt x="121666" y="3768725"/>
                    <a:pt x="0" y="3648456"/>
                    <a:pt x="0" y="3499485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499485"/>
                  </a:lnTo>
                  <a:lnTo>
                    <a:pt x="25400" y="3499485"/>
                  </a:lnTo>
                  <a:lnTo>
                    <a:pt x="50800" y="3499485"/>
                  </a:lnTo>
                  <a:cubicBezTo>
                    <a:pt x="50800" y="3619881"/>
                    <a:pt x="149352" y="3717925"/>
                    <a:pt x="271399" y="3717925"/>
                  </a:cubicBezTo>
                  <a:lnTo>
                    <a:pt x="10325608" y="3717925"/>
                  </a:lnTo>
                  <a:cubicBezTo>
                    <a:pt x="10447655" y="3717925"/>
                    <a:pt x="10546207" y="3619881"/>
                    <a:pt x="10546207" y="3499485"/>
                  </a:cubicBezTo>
                  <a:lnTo>
                    <a:pt x="10546207" y="269240"/>
                  </a:lnTo>
                  <a:cubicBezTo>
                    <a:pt x="10546207" y="148844"/>
                    <a:pt x="10447655" y="50800"/>
                    <a:pt x="10325608" y="50800"/>
                  </a:cubicBezTo>
                  <a:lnTo>
                    <a:pt x="271399" y="50800"/>
                  </a:lnTo>
                  <a:lnTo>
                    <a:pt x="271399" y="25400"/>
                  </a:lnTo>
                  <a:lnTo>
                    <a:pt x="271399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37A7E7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041949" y="6463608"/>
            <a:ext cx="152400" cy="2788444"/>
            <a:chOff x="0" y="0"/>
            <a:chExt cx="203200" cy="371792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3200" cy="3717925"/>
            </a:xfrm>
            <a:custGeom>
              <a:avLst/>
              <a:gdLst/>
              <a:ahLst/>
              <a:cxnLst/>
              <a:rect l="l" t="t" r="r" b="b"/>
              <a:pathLst>
                <a:path w="203200" h="3717925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616325"/>
                  </a:lnTo>
                  <a:cubicBezTo>
                    <a:pt x="203200" y="3672459"/>
                    <a:pt x="157734" y="3717925"/>
                    <a:pt x="101600" y="3717925"/>
                  </a:cubicBezTo>
                  <a:cubicBezTo>
                    <a:pt x="45466" y="3717925"/>
                    <a:pt x="0" y="3672459"/>
                    <a:pt x="0" y="3616325"/>
                  </a:cubicBezTo>
                  <a:close/>
                </a:path>
              </a:pathLst>
            </a:custGeom>
            <a:solidFill>
              <a:srgbClr val="37A7E7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1540964" y="6781648"/>
            <a:ext cx="7102078" cy="405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 dirty="0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Limitations of Current Methods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40964" y="7319220"/>
            <a:ext cx="7102078" cy="1586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Traditional screening methods are often </a:t>
            </a:r>
            <a:r>
              <a:rPr lang="en-US" sz="2375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expensive, resource-intensive, and reactive</a:t>
            </a: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, missing crucial early indicators.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279141" y="6444558"/>
            <a:ext cx="7947870" cy="2826544"/>
            <a:chOff x="0" y="0"/>
            <a:chExt cx="10597159" cy="3768725"/>
          </a:xfrm>
        </p:grpSpPr>
        <p:sp>
          <p:nvSpPr>
            <p:cNvPr id="29" name="Freeform 29"/>
            <p:cNvSpPr/>
            <p:nvPr/>
          </p:nvSpPr>
          <p:spPr>
            <a:xfrm>
              <a:off x="25400" y="25400"/>
              <a:ext cx="10546334" cy="3717925"/>
            </a:xfrm>
            <a:custGeom>
              <a:avLst/>
              <a:gdLst/>
              <a:ahLst/>
              <a:cxnLst/>
              <a:rect l="l" t="t" r="r" b="b"/>
              <a:pathLst>
                <a:path w="10546334" h="3717925">
                  <a:moveTo>
                    <a:pt x="0" y="243840"/>
                  </a:moveTo>
                  <a:cubicBezTo>
                    <a:pt x="0" y="109220"/>
                    <a:pt x="110109" y="0"/>
                    <a:pt x="245999" y="0"/>
                  </a:cubicBezTo>
                  <a:lnTo>
                    <a:pt x="10300335" y="0"/>
                  </a:lnTo>
                  <a:cubicBezTo>
                    <a:pt x="10436225" y="0"/>
                    <a:pt x="10546334" y="109220"/>
                    <a:pt x="10546334" y="243840"/>
                  </a:cubicBezTo>
                  <a:lnTo>
                    <a:pt x="10546334" y="3474085"/>
                  </a:lnTo>
                  <a:cubicBezTo>
                    <a:pt x="10546334" y="3608705"/>
                    <a:pt x="10436225" y="3717925"/>
                    <a:pt x="10300335" y="3717925"/>
                  </a:cubicBezTo>
                  <a:lnTo>
                    <a:pt x="245999" y="3717925"/>
                  </a:lnTo>
                  <a:cubicBezTo>
                    <a:pt x="110109" y="3717925"/>
                    <a:pt x="0" y="3608705"/>
                    <a:pt x="0" y="3474085"/>
                  </a:cubicBez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10597134" cy="3768725"/>
            </a:xfrm>
            <a:custGeom>
              <a:avLst/>
              <a:gdLst/>
              <a:ahLst/>
              <a:cxnLst/>
              <a:rect l="l" t="t" r="r" b="b"/>
              <a:pathLst>
                <a:path w="10597134" h="3768725">
                  <a:moveTo>
                    <a:pt x="0" y="269240"/>
                  </a:moveTo>
                  <a:cubicBezTo>
                    <a:pt x="0" y="120269"/>
                    <a:pt x="121666" y="0"/>
                    <a:pt x="271399" y="0"/>
                  </a:cubicBezTo>
                  <a:lnTo>
                    <a:pt x="10325735" y="0"/>
                  </a:lnTo>
                  <a:lnTo>
                    <a:pt x="10325735" y="25400"/>
                  </a:lnTo>
                  <a:lnTo>
                    <a:pt x="10325735" y="0"/>
                  </a:lnTo>
                  <a:cubicBezTo>
                    <a:pt x="10475341" y="0"/>
                    <a:pt x="10597134" y="120269"/>
                    <a:pt x="10597134" y="269240"/>
                  </a:cubicBezTo>
                  <a:lnTo>
                    <a:pt x="10571734" y="269240"/>
                  </a:lnTo>
                  <a:lnTo>
                    <a:pt x="10597134" y="269240"/>
                  </a:lnTo>
                  <a:lnTo>
                    <a:pt x="10597134" y="3499485"/>
                  </a:lnTo>
                  <a:lnTo>
                    <a:pt x="10571734" y="3499485"/>
                  </a:lnTo>
                  <a:lnTo>
                    <a:pt x="10597134" y="3499485"/>
                  </a:lnTo>
                  <a:cubicBezTo>
                    <a:pt x="10597134" y="3648329"/>
                    <a:pt x="10475468" y="3768725"/>
                    <a:pt x="10325735" y="3768725"/>
                  </a:cubicBezTo>
                  <a:lnTo>
                    <a:pt x="10325735" y="3743325"/>
                  </a:lnTo>
                  <a:lnTo>
                    <a:pt x="10325735" y="3768725"/>
                  </a:lnTo>
                  <a:lnTo>
                    <a:pt x="271399" y="3768725"/>
                  </a:lnTo>
                  <a:lnTo>
                    <a:pt x="271399" y="3743325"/>
                  </a:lnTo>
                  <a:lnTo>
                    <a:pt x="271399" y="3768725"/>
                  </a:lnTo>
                  <a:cubicBezTo>
                    <a:pt x="121666" y="3768725"/>
                    <a:pt x="0" y="3648456"/>
                    <a:pt x="0" y="3499485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499485"/>
                  </a:lnTo>
                  <a:lnTo>
                    <a:pt x="25400" y="3499485"/>
                  </a:lnTo>
                  <a:lnTo>
                    <a:pt x="50800" y="3499485"/>
                  </a:lnTo>
                  <a:cubicBezTo>
                    <a:pt x="50800" y="3619881"/>
                    <a:pt x="149352" y="3717925"/>
                    <a:pt x="271399" y="3717925"/>
                  </a:cubicBezTo>
                  <a:lnTo>
                    <a:pt x="10325735" y="3717925"/>
                  </a:lnTo>
                  <a:cubicBezTo>
                    <a:pt x="10447782" y="3717925"/>
                    <a:pt x="10546334" y="3619881"/>
                    <a:pt x="10546334" y="3499485"/>
                  </a:cubicBezTo>
                  <a:lnTo>
                    <a:pt x="10546334" y="269240"/>
                  </a:lnTo>
                  <a:cubicBezTo>
                    <a:pt x="10546334" y="148844"/>
                    <a:pt x="10447782" y="50800"/>
                    <a:pt x="10325735" y="50800"/>
                  </a:cubicBezTo>
                  <a:lnTo>
                    <a:pt x="271399" y="50800"/>
                  </a:lnTo>
                  <a:lnTo>
                    <a:pt x="271399" y="25400"/>
                  </a:lnTo>
                  <a:lnTo>
                    <a:pt x="271399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091231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9260091" y="6463608"/>
            <a:ext cx="152400" cy="2788444"/>
            <a:chOff x="0" y="0"/>
            <a:chExt cx="203200" cy="371792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03200" cy="3717925"/>
            </a:xfrm>
            <a:custGeom>
              <a:avLst/>
              <a:gdLst/>
              <a:ahLst/>
              <a:cxnLst/>
              <a:rect l="l" t="t" r="r" b="b"/>
              <a:pathLst>
                <a:path w="203200" h="3717925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616325"/>
                  </a:lnTo>
                  <a:cubicBezTo>
                    <a:pt x="203200" y="3672459"/>
                    <a:pt x="157734" y="3717925"/>
                    <a:pt x="101600" y="3717925"/>
                  </a:cubicBezTo>
                  <a:cubicBezTo>
                    <a:pt x="45466" y="3717925"/>
                    <a:pt x="0" y="3672459"/>
                    <a:pt x="0" y="3616325"/>
                  </a:cubicBezTo>
                  <a:close/>
                </a:path>
              </a:pathLst>
            </a:custGeom>
            <a:solidFill>
              <a:srgbClr val="091231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9759104" y="6781648"/>
            <a:ext cx="6987931" cy="405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 dirty="0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AI for Low-Cost Stratification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759105" y="7319220"/>
            <a:ext cx="7102231" cy="1092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There's a pressing need for a </a:t>
            </a:r>
            <a:r>
              <a:rPr lang="en-US" sz="2375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low-cost, proactive AI-based system</a:t>
            </a: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for accurate risk stratification.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-34290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09650" y="933258"/>
            <a:ext cx="15851686" cy="166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49"/>
              </a:lnSpc>
            </a:pPr>
            <a:r>
              <a:rPr lang="en-US" sz="5374" b="1" dirty="0" err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CardioShield</a:t>
            </a:r>
            <a:r>
              <a:rPr lang="en-US" sz="5374" b="1" dirty="0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 Dataset: Unveiling Health Indicators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0049" y="2757783"/>
            <a:ext cx="16127911" cy="1092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Our predictive model is built upon a robust, real-world structured medical dataset, specifically curated to capture key cardiovascular health parameters.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60999" y="4178198"/>
            <a:ext cx="7947717" cy="4739583"/>
            <a:chOff x="0" y="0"/>
            <a:chExt cx="10596956" cy="6319444"/>
          </a:xfrm>
        </p:grpSpPr>
        <p:sp>
          <p:nvSpPr>
            <p:cNvPr id="9" name="Freeform 9"/>
            <p:cNvSpPr/>
            <p:nvPr/>
          </p:nvSpPr>
          <p:spPr>
            <a:xfrm>
              <a:off x="25400" y="25400"/>
              <a:ext cx="10546207" cy="6268720"/>
            </a:xfrm>
            <a:custGeom>
              <a:avLst/>
              <a:gdLst/>
              <a:ahLst/>
              <a:cxnLst/>
              <a:rect l="l" t="t" r="r" b="b"/>
              <a:pathLst>
                <a:path w="10546207" h="6268720">
                  <a:moveTo>
                    <a:pt x="0" y="617220"/>
                  </a:moveTo>
                  <a:cubicBezTo>
                    <a:pt x="0" y="276352"/>
                    <a:pt x="277241" y="0"/>
                    <a:pt x="619252" y="0"/>
                  </a:cubicBezTo>
                  <a:lnTo>
                    <a:pt x="9926955" y="0"/>
                  </a:lnTo>
                  <a:cubicBezTo>
                    <a:pt x="10268966" y="0"/>
                    <a:pt x="10546207" y="276352"/>
                    <a:pt x="10546207" y="617220"/>
                  </a:cubicBezTo>
                  <a:lnTo>
                    <a:pt x="10546207" y="5651500"/>
                  </a:lnTo>
                  <a:cubicBezTo>
                    <a:pt x="10546207" y="5992368"/>
                    <a:pt x="10268966" y="6268720"/>
                    <a:pt x="9926955" y="6268720"/>
                  </a:cubicBezTo>
                  <a:lnTo>
                    <a:pt x="619252" y="6268720"/>
                  </a:lnTo>
                  <a:cubicBezTo>
                    <a:pt x="277241" y="6268593"/>
                    <a:pt x="0" y="5992368"/>
                    <a:pt x="0" y="5651373"/>
                  </a:cubicBez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0597007" cy="6319520"/>
            </a:xfrm>
            <a:custGeom>
              <a:avLst/>
              <a:gdLst/>
              <a:ahLst/>
              <a:cxnLst/>
              <a:rect l="l" t="t" r="r" b="b"/>
              <a:pathLst>
                <a:path w="10597007" h="6319520">
                  <a:moveTo>
                    <a:pt x="0" y="642620"/>
                  </a:moveTo>
                  <a:cubicBezTo>
                    <a:pt x="0" y="287655"/>
                    <a:pt x="288671" y="0"/>
                    <a:pt x="644652" y="0"/>
                  </a:cubicBezTo>
                  <a:lnTo>
                    <a:pt x="9952355" y="0"/>
                  </a:lnTo>
                  <a:lnTo>
                    <a:pt x="9952355" y="25400"/>
                  </a:lnTo>
                  <a:lnTo>
                    <a:pt x="9952355" y="0"/>
                  </a:lnTo>
                  <a:cubicBezTo>
                    <a:pt x="10308337" y="0"/>
                    <a:pt x="10597007" y="287655"/>
                    <a:pt x="10597007" y="642620"/>
                  </a:cubicBezTo>
                  <a:lnTo>
                    <a:pt x="10571607" y="642620"/>
                  </a:lnTo>
                  <a:lnTo>
                    <a:pt x="10597007" y="642620"/>
                  </a:lnTo>
                  <a:lnTo>
                    <a:pt x="10597007" y="5676900"/>
                  </a:lnTo>
                  <a:lnTo>
                    <a:pt x="10571607" y="5676900"/>
                  </a:lnTo>
                  <a:lnTo>
                    <a:pt x="10597007" y="5676900"/>
                  </a:lnTo>
                  <a:cubicBezTo>
                    <a:pt x="10597007" y="6031865"/>
                    <a:pt x="10308337" y="6319520"/>
                    <a:pt x="9952355" y="6319520"/>
                  </a:cubicBezTo>
                  <a:lnTo>
                    <a:pt x="9952355" y="6294120"/>
                  </a:lnTo>
                  <a:lnTo>
                    <a:pt x="9952355" y="6319520"/>
                  </a:lnTo>
                  <a:lnTo>
                    <a:pt x="644652" y="6319520"/>
                  </a:lnTo>
                  <a:lnTo>
                    <a:pt x="644652" y="6294120"/>
                  </a:lnTo>
                  <a:lnTo>
                    <a:pt x="644652" y="6319520"/>
                  </a:lnTo>
                  <a:cubicBezTo>
                    <a:pt x="288671" y="6319393"/>
                    <a:pt x="0" y="6031865"/>
                    <a:pt x="0" y="5676773"/>
                  </a:cubicBezTo>
                  <a:lnTo>
                    <a:pt x="0" y="642620"/>
                  </a:lnTo>
                  <a:lnTo>
                    <a:pt x="25400" y="642620"/>
                  </a:lnTo>
                  <a:lnTo>
                    <a:pt x="0" y="642620"/>
                  </a:lnTo>
                  <a:moveTo>
                    <a:pt x="50800" y="642620"/>
                  </a:moveTo>
                  <a:lnTo>
                    <a:pt x="50800" y="5676900"/>
                  </a:lnTo>
                  <a:lnTo>
                    <a:pt x="25400" y="5676900"/>
                  </a:lnTo>
                  <a:lnTo>
                    <a:pt x="50800" y="5676900"/>
                  </a:lnTo>
                  <a:cubicBezTo>
                    <a:pt x="50800" y="6003671"/>
                    <a:pt x="316611" y="6268720"/>
                    <a:pt x="644652" y="6268720"/>
                  </a:cubicBezTo>
                  <a:lnTo>
                    <a:pt x="9952355" y="6268720"/>
                  </a:lnTo>
                  <a:cubicBezTo>
                    <a:pt x="10280397" y="6268720"/>
                    <a:pt x="10546207" y="6003671"/>
                    <a:pt x="10546207" y="5676900"/>
                  </a:cubicBezTo>
                  <a:lnTo>
                    <a:pt x="10546207" y="642620"/>
                  </a:lnTo>
                  <a:cubicBezTo>
                    <a:pt x="10546207" y="315849"/>
                    <a:pt x="10280397" y="50800"/>
                    <a:pt x="9952355" y="50800"/>
                  </a:cubicBezTo>
                  <a:lnTo>
                    <a:pt x="644652" y="50800"/>
                  </a:lnTo>
                  <a:lnTo>
                    <a:pt x="644652" y="25400"/>
                  </a:lnTo>
                  <a:lnTo>
                    <a:pt x="644652" y="50800"/>
                  </a:lnTo>
                  <a:cubicBezTo>
                    <a:pt x="316611" y="50800"/>
                    <a:pt x="50800" y="315849"/>
                    <a:pt x="50800" y="642620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426664" y="4515298"/>
            <a:ext cx="342900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Key Features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26664" y="5052860"/>
            <a:ext cx="7216378" cy="3499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Age, Height, Weight, Gender</a:t>
            </a:r>
          </a:p>
          <a:p>
            <a:pPr marL="358180" lvl="1" indent="-179090" algn="l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Blood Pressure (Systolic &amp; Diastolic)</a:t>
            </a:r>
          </a:p>
          <a:p>
            <a:pPr marL="358180" lvl="1" indent="-179090" algn="l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Cholesterol Levels</a:t>
            </a:r>
          </a:p>
          <a:p>
            <a:pPr marL="358180" lvl="1" indent="-179090" algn="l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Glucose Levels</a:t>
            </a:r>
          </a:p>
          <a:p>
            <a:pPr marL="358180" lvl="1" indent="-179090" algn="l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Lifestyle Factors (Smoke, Alcohol, Physical Activity)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279141" y="4178198"/>
            <a:ext cx="7947870" cy="4739583"/>
            <a:chOff x="0" y="0"/>
            <a:chExt cx="10597159" cy="6319444"/>
          </a:xfrm>
        </p:grpSpPr>
        <p:sp>
          <p:nvSpPr>
            <p:cNvPr id="14" name="Freeform 14"/>
            <p:cNvSpPr/>
            <p:nvPr/>
          </p:nvSpPr>
          <p:spPr>
            <a:xfrm>
              <a:off x="25400" y="25400"/>
              <a:ext cx="10546334" cy="6268720"/>
            </a:xfrm>
            <a:custGeom>
              <a:avLst/>
              <a:gdLst/>
              <a:ahLst/>
              <a:cxnLst/>
              <a:rect l="l" t="t" r="r" b="b"/>
              <a:pathLst>
                <a:path w="10546334" h="6268720">
                  <a:moveTo>
                    <a:pt x="0" y="617220"/>
                  </a:moveTo>
                  <a:cubicBezTo>
                    <a:pt x="0" y="276352"/>
                    <a:pt x="277241" y="0"/>
                    <a:pt x="619252" y="0"/>
                  </a:cubicBezTo>
                  <a:lnTo>
                    <a:pt x="9927082" y="0"/>
                  </a:lnTo>
                  <a:cubicBezTo>
                    <a:pt x="10269093" y="0"/>
                    <a:pt x="10546334" y="276352"/>
                    <a:pt x="10546334" y="617220"/>
                  </a:cubicBezTo>
                  <a:lnTo>
                    <a:pt x="10546334" y="5651500"/>
                  </a:lnTo>
                  <a:cubicBezTo>
                    <a:pt x="10546334" y="5992368"/>
                    <a:pt x="10269093" y="6268720"/>
                    <a:pt x="9927082" y="6268720"/>
                  </a:cubicBezTo>
                  <a:lnTo>
                    <a:pt x="619252" y="6268720"/>
                  </a:lnTo>
                  <a:cubicBezTo>
                    <a:pt x="277241" y="6268593"/>
                    <a:pt x="0" y="5992368"/>
                    <a:pt x="0" y="5651373"/>
                  </a:cubicBez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10597134" cy="6319520"/>
            </a:xfrm>
            <a:custGeom>
              <a:avLst/>
              <a:gdLst/>
              <a:ahLst/>
              <a:cxnLst/>
              <a:rect l="l" t="t" r="r" b="b"/>
              <a:pathLst>
                <a:path w="10597134" h="6319520">
                  <a:moveTo>
                    <a:pt x="0" y="642620"/>
                  </a:moveTo>
                  <a:cubicBezTo>
                    <a:pt x="0" y="287655"/>
                    <a:pt x="288671" y="0"/>
                    <a:pt x="644652" y="0"/>
                  </a:cubicBezTo>
                  <a:lnTo>
                    <a:pt x="9952482" y="0"/>
                  </a:lnTo>
                  <a:lnTo>
                    <a:pt x="9952482" y="25400"/>
                  </a:lnTo>
                  <a:lnTo>
                    <a:pt x="9952482" y="0"/>
                  </a:lnTo>
                  <a:cubicBezTo>
                    <a:pt x="10308463" y="0"/>
                    <a:pt x="10597134" y="287655"/>
                    <a:pt x="10597134" y="642620"/>
                  </a:cubicBezTo>
                  <a:lnTo>
                    <a:pt x="10571734" y="642620"/>
                  </a:lnTo>
                  <a:lnTo>
                    <a:pt x="10597134" y="642620"/>
                  </a:lnTo>
                  <a:lnTo>
                    <a:pt x="10597134" y="5676900"/>
                  </a:lnTo>
                  <a:lnTo>
                    <a:pt x="10571734" y="5676900"/>
                  </a:lnTo>
                  <a:lnTo>
                    <a:pt x="10597134" y="5676900"/>
                  </a:lnTo>
                  <a:cubicBezTo>
                    <a:pt x="10597134" y="6031865"/>
                    <a:pt x="10308463" y="6319520"/>
                    <a:pt x="9952482" y="6319520"/>
                  </a:cubicBezTo>
                  <a:lnTo>
                    <a:pt x="9952482" y="6294120"/>
                  </a:lnTo>
                  <a:lnTo>
                    <a:pt x="9952482" y="6319520"/>
                  </a:lnTo>
                  <a:lnTo>
                    <a:pt x="644652" y="6319520"/>
                  </a:lnTo>
                  <a:lnTo>
                    <a:pt x="644652" y="6294120"/>
                  </a:lnTo>
                  <a:lnTo>
                    <a:pt x="644652" y="6319520"/>
                  </a:lnTo>
                  <a:cubicBezTo>
                    <a:pt x="288671" y="6319393"/>
                    <a:pt x="0" y="6031865"/>
                    <a:pt x="0" y="5676773"/>
                  </a:cubicBezTo>
                  <a:lnTo>
                    <a:pt x="0" y="642620"/>
                  </a:lnTo>
                  <a:lnTo>
                    <a:pt x="25400" y="642620"/>
                  </a:lnTo>
                  <a:lnTo>
                    <a:pt x="0" y="642620"/>
                  </a:lnTo>
                  <a:moveTo>
                    <a:pt x="50800" y="642620"/>
                  </a:moveTo>
                  <a:lnTo>
                    <a:pt x="50800" y="5676900"/>
                  </a:lnTo>
                  <a:lnTo>
                    <a:pt x="25400" y="5676900"/>
                  </a:lnTo>
                  <a:lnTo>
                    <a:pt x="50800" y="5676900"/>
                  </a:lnTo>
                  <a:cubicBezTo>
                    <a:pt x="50800" y="6003671"/>
                    <a:pt x="316611" y="6268720"/>
                    <a:pt x="644652" y="6268720"/>
                  </a:cubicBezTo>
                  <a:lnTo>
                    <a:pt x="9952482" y="6268720"/>
                  </a:lnTo>
                  <a:cubicBezTo>
                    <a:pt x="10280523" y="6268720"/>
                    <a:pt x="10546334" y="6003671"/>
                    <a:pt x="10546334" y="5676900"/>
                  </a:cubicBezTo>
                  <a:lnTo>
                    <a:pt x="10546334" y="642620"/>
                  </a:lnTo>
                  <a:cubicBezTo>
                    <a:pt x="10546334" y="315849"/>
                    <a:pt x="10280523" y="50800"/>
                    <a:pt x="9952482" y="50800"/>
                  </a:cubicBezTo>
                  <a:lnTo>
                    <a:pt x="644652" y="50800"/>
                  </a:lnTo>
                  <a:lnTo>
                    <a:pt x="644652" y="25400"/>
                  </a:lnTo>
                  <a:lnTo>
                    <a:pt x="644652" y="50800"/>
                  </a:lnTo>
                  <a:cubicBezTo>
                    <a:pt x="316611" y="50800"/>
                    <a:pt x="50800" y="315849"/>
                    <a:pt x="50800" y="642620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9644805" y="4515298"/>
            <a:ext cx="342900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Target Variable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44805" y="5052860"/>
            <a:ext cx="7216531" cy="1586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875"/>
              </a:lnSpc>
              <a:buFont typeface="Arial"/>
              <a:buChar char="•"/>
            </a:pPr>
            <a:r>
              <a:rPr lang="en-US" sz="2375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Cardio (0 = No Disease , 1 = Disease)</a:t>
            </a: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: Our clear objective is to accurately predict the presence or absence of cardiovascular disease.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75007" y="674637"/>
            <a:ext cx="16098593" cy="6681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4437" b="1" dirty="0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Data Engineering: Sculpting Insights from Raw Data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339901" y="1852022"/>
            <a:ext cx="15608198" cy="6730603"/>
            <a:chOff x="0" y="0"/>
            <a:chExt cx="20810931" cy="8974138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20810982" cy="8974201"/>
            </a:xfrm>
            <a:custGeom>
              <a:avLst/>
              <a:gdLst/>
              <a:ahLst/>
              <a:cxnLst/>
              <a:rect l="l" t="t" r="r" b="b"/>
              <a:pathLst>
                <a:path w="20810982" h="8974201">
                  <a:moveTo>
                    <a:pt x="0" y="0"/>
                  </a:moveTo>
                  <a:lnTo>
                    <a:pt x="20810982" y="0"/>
                  </a:lnTo>
                  <a:lnTo>
                    <a:pt x="20810982" y="8974201"/>
                  </a:lnTo>
                  <a:lnTo>
                    <a:pt x="0" y="8974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5" b="-15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2390184" y="7311790"/>
            <a:ext cx="3147527" cy="412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Normalize &amp; Split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90184" y="5753757"/>
            <a:ext cx="3147527" cy="412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Encode Categorical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90184" y="4211469"/>
            <a:ext cx="3147527" cy="412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Feature Engineering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90184" y="2653446"/>
            <a:ext cx="3147527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Data Processing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75007" y="8755856"/>
            <a:ext cx="15737977" cy="818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Rigorous data preprocessing is the foundation of our robust AI model, transforming raw clinical data into a refined format suitable for machine learning.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14260" y="862460"/>
            <a:ext cx="16359340" cy="7536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12"/>
              </a:lnSpc>
            </a:pPr>
            <a:r>
              <a:rPr lang="en-US" sz="5062" b="1" dirty="0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Model Development: A Multi-faced Approach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1014260" y="2269036"/>
            <a:ext cx="869452" cy="869452"/>
          </a:xfrm>
          <a:custGeom>
            <a:avLst/>
            <a:gdLst/>
            <a:ahLst/>
            <a:cxnLst/>
            <a:rect l="l" t="t" r="r" b="b"/>
            <a:pathLst>
              <a:path w="869452" h="869452">
                <a:moveTo>
                  <a:pt x="0" y="0"/>
                </a:moveTo>
                <a:lnTo>
                  <a:pt x="869452" y="0"/>
                </a:lnTo>
                <a:lnTo>
                  <a:pt x="869452" y="869452"/>
                </a:lnTo>
                <a:lnTo>
                  <a:pt x="0" y="8694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9021" b="-19022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14260" y="3450136"/>
            <a:ext cx="3220193" cy="43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XGBoost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4260" y="3968353"/>
            <a:ext cx="7959623" cy="975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24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 high-performance gradient boosting framework known for its speed and accuracy.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9314107" y="2269036"/>
            <a:ext cx="869452" cy="869452"/>
          </a:xfrm>
          <a:custGeom>
            <a:avLst/>
            <a:gdLst/>
            <a:ahLst/>
            <a:cxnLst/>
            <a:rect l="l" t="t" r="r" b="b"/>
            <a:pathLst>
              <a:path w="869452" h="869452">
                <a:moveTo>
                  <a:pt x="0" y="0"/>
                </a:moveTo>
                <a:lnTo>
                  <a:pt x="869451" y="0"/>
                </a:lnTo>
                <a:lnTo>
                  <a:pt x="869451" y="869452"/>
                </a:lnTo>
                <a:lnTo>
                  <a:pt x="0" y="8694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4456" r="-24457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314107" y="3450136"/>
            <a:ext cx="3220193" cy="43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LightGBM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14107" y="3968353"/>
            <a:ext cx="7959623" cy="975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24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Another efficient gradient boosting framework, optimized for large datasets and parallel processing.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1014260" y="5487743"/>
            <a:ext cx="869452" cy="869452"/>
          </a:xfrm>
          <a:custGeom>
            <a:avLst/>
            <a:gdLst/>
            <a:ahLst/>
            <a:cxnLst/>
            <a:rect l="l" t="t" r="r" b="b"/>
            <a:pathLst>
              <a:path w="869452" h="869452">
                <a:moveTo>
                  <a:pt x="0" y="0"/>
                </a:moveTo>
                <a:lnTo>
                  <a:pt x="869452" y="0"/>
                </a:lnTo>
                <a:lnTo>
                  <a:pt x="869452" y="869452"/>
                </a:lnTo>
                <a:lnTo>
                  <a:pt x="0" y="8694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43" r="-543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14260" y="6668843"/>
            <a:ext cx="3220193" cy="43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Neural Networks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4260" y="7187060"/>
            <a:ext cx="7959623" cy="975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24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Deep learning architectures capable of learning complex non-linear relationships in data.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9314107" y="5487743"/>
            <a:ext cx="869452" cy="869452"/>
          </a:xfrm>
          <a:custGeom>
            <a:avLst/>
            <a:gdLst/>
            <a:ahLst/>
            <a:cxnLst/>
            <a:rect l="l" t="t" r="r" b="b"/>
            <a:pathLst>
              <a:path w="869452" h="869452">
                <a:moveTo>
                  <a:pt x="0" y="0"/>
                </a:moveTo>
                <a:lnTo>
                  <a:pt x="869451" y="0"/>
                </a:lnTo>
                <a:lnTo>
                  <a:pt x="869451" y="869452"/>
                </a:lnTo>
                <a:lnTo>
                  <a:pt x="0" y="8694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314107" y="6668843"/>
            <a:ext cx="3220193" cy="43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Ensemble/Stacking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14107" y="7187060"/>
            <a:ext cx="7959623" cy="975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24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Combining the strengths of multiple models to achieve superior predictive power and robustness.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14260" y="8392116"/>
            <a:ext cx="16259470" cy="975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24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Our approach involves training and rigorously comparing a diverse set of machine learning models to identify the most effective solution for cardiovascular risk prediction.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77068" y="1053408"/>
            <a:ext cx="16133864" cy="166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87"/>
              </a:lnSpc>
            </a:pPr>
            <a:r>
              <a:rPr lang="en-US" sz="5374" b="1" dirty="0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Model Performance Results: Comparative Analysis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67543" y="3414712"/>
            <a:ext cx="16152914" cy="4452042"/>
            <a:chOff x="0" y="0"/>
            <a:chExt cx="21537219" cy="59360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537295" cy="5936107"/>
            </a:xfrm>
            <a:custGeom>
              <a:avLst/>
              <a:gdLst/>
              <a:ahLst/>
              <a:cxnLst/>
              <a:rect l="l" t="t" r="r" b="b"/>
              <a:pathLst>
                <a:path w="21537295" h="5936107">
                  <a:moveTo>
                    <a:pt x="0" y="628269"/>
                  </a:moveTo>
                  <a:cubicBezTo>
                    <a:pt x="0" y="281178"/>
                    <a:pt x="282194" y="0"/>
                    <a:pt x="630174" y="0"/>
                  </a:cubicBezTo>
                  <a:lnTo>
                    <a:pt x="20907121" y="0"/>
                  </a:lnTo>
                  <a:lnTo>
                    <a:pt x="20907121" y="12700"/>
                  </a:lnTo>
                  <a:lnTo>
                    <a:pt x="20907121" y="0"/>
                  </a:lnTo>
                  <a:cubicBezTo>
                    <a:pt x="21255101" y="0"/>
                    <a:pt x="21537295" y="281178"/>
                    <a:pt x="21537295" y="628269"/>
                  </a:cubicBezTo>
                  <a:lnTo>
                    <a:pt x="21537295" y="5307838"/>
                  </a:lnTo>
                  <a:lnTo>
                    <a:pt x="21524595" y="5307838"/>
                  </a:lnTo>
                  <a:lnTo>
                    <a:pt x="21537295" y="5307838"/>
                  </a:lnTo>
                  <a:cubicBezTo>
                    <a:pt x="21537295" y="5654802"/>
                    <a:pt x="21255101" y="5936107"/>
                    <a:pt x="20907121" y="5936107"/>
                  </a:cubicBezTo>
                  <a:lnTo>
                    <a:pt x="20907121" y="5923407"/>
                  </a:lnTo>
                  <a:lnTo>
                    <a:pt x="20907121" y="5936107"/>
                  </a:lnTo>
                  <a:lnTo>
                    <a:pt x="630174" y="5936107"/>
                  </a:lnTo>
                  <a:lnTo>
                    <a:pt x="630174" y="5923407"/>
                  </a:lnTo>
                  <a:lnTo>
                    <a:pt x="630174" y="5936107"/>
                  </a:lnTo>
                  <a:cubicBezTo>
                    <a:pt x="282194" y="5936107"/>
                    <a:pt x="0" y="5654802"/>
                    <a:pt x="0" y="5307838"/>
                  </a:cubicBezTo>
                  <a:lnTo>
                    <a:pt x="0" y="628269"/>
                  </a:lnTo>
                  <a:lnTo>
                    <a:pt x="12700" y="628269"/>
                  </a:lnTo>
                  <a:lnTo>
                    <a:pt x="0" y="628269"/>
                  </a:lnTo>
                  <a:moveTo>
                    <a:pt x="25400" y="628269"/>
                  </a:moveTo>
                  <a:lnTo>
                    <a:pt x="25400" y="5307838"/>
                  </a:lnTo>
                  <a:lnTo>
                    <a:pt x="12700" y="5307838"/>
                  </a:lnTo>
                  <a:lnTo>
                    <a:pt x="25400" y="5307838"/>
                  </a:lnTo>
                  <a:cubicBezTo>
                    <a:pt x="25400" y="5640705"/>
                    <a:pt x="296164" y="5910707"/>
                    <a:pt x="630174" y="5910707"/>
                  </a:cubicBezTo>
                  <a:lnTo>
                    <a:pt x="20907121" y="5910707"/>
                  </a:lnTo>
                  <a:cubicBezTo>
                    <a:pt x="21241131" y="5910707"/>
                    <a:pt x="21511895" y="5640832"/>
                    <a:pt x="21511895" y="5307838"/>
                  </a:cubicBezTo>
                  <a:lnTo>
                    <a:pt x="21511895" y="628269"/>
                  </a:lnTo>
                  <a:lnTo>
                    <a:pt x="21524595" y="628269"/>
                  </a:lnTo>
                  <a:lnTo>
                    <a:pt x="21511895" y="628269"/>
                  </a:lnTo>
                  <a:cubicBezTo>
                    <a:pt x="21511895" y="295402"/>
                    <a:pt x="21241131" y="25400"/>
                    <a:pt x="20907121" y="25400"/>
                  </a:cubicBezTo>
                  <a:lnTo>
                    <a:pt x="630174" y="25400"/>
                  </a:lnTo>
                  <a:lnTo>
                    <a:pt x="630174" y="12700"/>
                  </a:lnTo>
                  <a:lnTo>
                    <a:pt x="630174" y="25400"/>
                  </a:lnTo>
                  <a:cubicBezTo>
                    <a:pt x="296164" y="25400"/>
                    <a:pt x="25400" y="295275"/>
                    <a:pt x="25400" y="628269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096118" y="3443288"/>
            <a:ext cx="16095764" cy="878977"/>
            <a:chOff x="0" y="0"/>
            <a:chExt cx="21461019" cy="11719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460968" cy="1171956"/>
            </a:xfrm>
            <a:custGeom>
              <a:avLst/>
              <a:gdLst/>
              <a:ahLst/>
              <a:cxnLst/>
              <a:rect l="l" t="t" r="r" b="b"/>
              <a:pathLst>
                <a:path w="21460968" h="1171956">
                  <a:moveTo>
                    <a:pt x="0" y="0"/>
                  </a:moveTo>
                  <a:lnTo>
                    <a:pt x="21460968" y="0"/>
                  </a:lnTo>
                  <a:lnTo>
                    <a:pt x="21460968" y="1171956"/>
                  </a:lnTo>
                  <a:lnTo>
                    <a:pt x="0" y="117195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403747" y="3532137"/>
            <a:ext cx="2599134" cy="59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Model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27664" y="3532137"/>
            <a:ext cx="1950539" cy="59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Accuracy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02986" y="3532137"/>
            <a:ext cx="1950539" cy="59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Recall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78308" y="3532137"/>
            <a:ext cx="1950539" cy="59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Precision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53630" y="3532137"/>
            <a:ext cx="1950539" cy="59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ROC AUC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928952" y="3532137"/>
            <a:ext cx="1955302" cy="59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PR-AUC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96118" y="4322264"/>
            <a:ext cx="16095764" cy="878977"/>
            <a:chOff x="0" y="0"/>
            <a:chExt cx="21461019" cy="117196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460968" cy="1171956"/>
            </a:xfrm>
            <a:custGeom>
              <a:avLst/>
              <a:gdLst/>
              <a:ahLst/>
              <a:cxnLst/>
              <a:rect l="l" t="t" r="r" b="b"/>
              <a:pathLst>
                <a:path w="21460968" h="1171956">
                  <a:moveTo>
                    <a:pt x="0" y="0"/>
                  </a:moveTo>
                  <a:lnTo>
                    <a:pt x="21460968" y="0"/>
                  </a:lnTo>
                  <a:lnTo>
                    <a:pt x="21460968" y="1171956"/>
                  </a:lnTo>
                  <a:lnTo>
                    <a:pt x="0" y="11719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403747" y="4411113"/>
            <a:ext cx="2599134" cy="59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XGBoost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27664" y="4411113"/>
            <a:ext cx="1950539" cy="59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0.89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02986" y="4411113"/>
            <a:ext cx="1950539" cy="59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0.90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78308" y="4411113"/>
            <a:ext cx="1950539" cy="59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0.88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53630" y="4411113"/>
            <a:ext cx="1950539" cy="59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0.97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928952" y="4411113"/>
            <a:ext cx="1955302" cy="59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0.97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96118" y="5201241"/>
            <a:ext cx="16095764" cy="878977"/>
            <a:chOff x="0" y="0"/>
            <a:chExt cx="21461019" cy="117196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460968" cy="1171956"/>
            </a:xfrm>
            <a:custGeom>
              <a:avLst/>
              <a:gdLst/>
              <a:ahLst/>
              <a:cxnLst/>
              <a:rect l="l" t="t" r="r" b="b"/>
              <a:pathLst>
                <a:path w="21460968" h="1171956">
                  <a:moveTo>
                    <a:pt x="0" y="0"/>
                  </a:moveTo>
                  <a:lnTo>
                    <a:pt x="21460968" y="0"/>
                  </a:lnTo>
                  <a:lnTo>
                    <a:pt x="21460968" y="1171956"/>
                  </a:lnTo>
                  <a:lnTo>
                    <a:pt x="0" y="117195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403747" y="5290099"/>
            <a:ext cx="2599134" cy="59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LightGBM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627664" y="5290099"/>
            <a:ext cx="1950539" cy="426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0.87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202986" y="5290099"/>
            <a:ext cx="1950539" cy="426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0.88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78308" y="5290099"/>
            <a:ext cx="1950539" cy="426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0.86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353630" y="5290099"/>
            <a:ext cx="1950539" cy="426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0.96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928952" y="5290099"/>
            <a:ext cx="1955302" cy="426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0.96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096118" y="6080227"/>
            <a:ext cx="16095764" cy="878977"/>
            <a:chOff x="0" y="0"/>
            <a:chExt cx="21461019" cy="117196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460968" cy="1171956"/>
            </a:xfrm>
            <a:custGeom>
              <a:avLst/>
              <a:gdLst/>
              <a:ahLst/>
              <a:cxnLst/>
              <a:rect l="l" t="t" r="r" b="b"/>
              <a:pathLst>
                <a:path w="21460968" h="1171956">
                  <a:moveTo>
                    <a:pt x="0" y="0"/>
                  </a:moveTo>
                  <a:lnTo>
                    <a:pt x="21460968" y="0"/>
                  </a:lnTo>
                  <a:lnTo>
                    <a:pt x="21460968" y="1171956"/>
                  </a:lnTo>
                  <a:lnTo>
                    <a:pt x="0" y="11719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1403747" y="6169076"/>
            <a:ext cx="2599134" cy="426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Neural Network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627664" y="6169076"/>
            <a:ext cx="1950539" cy="59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0.89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202986" y="6169076"/>
            <a:ext cx="1950539" cy="59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0.90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778308" y="6169076"/>
            <a:ext cx="1950539" cy="426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0.87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353630" y="6169076"/>
            <a:ext cx="1950539" cy="426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0.96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928952" y="6169076"/>
            <a:ext cx="1955302" cy="426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0.96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096118" y="6959203"/>
            <a:ext cx="16095764" cy="878977"/>
            <a:chOff x="0" y="0"/>
            <a:chExt cx="21461019" cy="117196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1460968" cy="1171956"/>
            </a:xfrm>
            <a:custGeom>
              <a:avLst/>
              <a:gdLst/>
              <a:ahLst/>
              <a:cxnLst/>
              <a:rect l="l" t="t" r="r" b="b"/>
              <a:pathLst>
                <a:path w="21460968" h="1171956">
                  <a:moveTo>
                    <a:pt x="0" y="0"/>
                  </a:moveTo>
                  <a:lnTo>
                    <a:pt x="21460968" y="0"/>
                  </a:lnTo>
                  <a:lnTo>
                    <a:pt x="21460968" y="1171956"/>
                  </a:lnTo>
                  <a:lnTo>
                    <a:pt x="0" y="117195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43" name="TextBox 43"/>
          <p:cNvSpPr txBox="1"/>
          <p:nvPr/>
        </p:nvSpPr>
        <p:spPr>
          <a:xfrm>
            <a:off x="1403747" y="7048052"/>
            <a:ext cx="2599134" cy="59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Stacking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627664" y="7048052"/>
            <a:ext cx="1950539" cy="426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0.89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202986" y="7048052"/>
            <a:ext cx="1950539" cy="426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0.91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778308" y="7048052"/>
            <a:ext cx="1950539" cy="59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0.88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353630" y="7048052"/>
            <a:ext cx="1950539" cy="59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0.97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928952" y="7048052"/>
            <a:ext cx="1955302" cy="59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0.97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77068" y="8097593"/>
            <a:ext cx="16133864" cy="913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All four models demonstrate comparable high performance, with Stacking model showing slightly higher recall (0.91), making it an  excellent choices for identifying cardiovascular disease cases where missing a positive case is critical.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07269" y="1338558"/>
            <a:ext cx="15832931" cy="7422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49"/>
              </a:lnSpc>
            </a:pPr>
            <a:r>
              <a:rPr lang="en-US" sz="4999" b="1" dirty="0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Risk Classification Framework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7269" y="2646312"/>
            <a:ext cx="16273462" cy="966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24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CardioShield AI categorizes users into distinct risk profiles, enabling personalized interventions and proactive healthcare management based on individual model predictions and health data.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981" y="3900192"/>
            <a:ext cx="5274173" cy="5014760"/>
            <a:chOff x="0" y="0"/>
            <a:chExt cx="7032231" cy="6686347"/>
          </a:xfrm>
        </p:grpSpPr>
        <p:sp>
          <p:nvSpPr>
            <p:cNvPr id="9" name="Freeform 9"/>
            <p:cNvSpPr/>
            <p:nvPr/>
          </p:nvSpPr>
          <p:spPr>
            <a:xfrm>
              <a:off x="19050" y="19050"/>
              <a:ext cx="6994144" cy="6648323"/>
            </a:xfrm>
            <a:custGeom>
              <a:avLst/>
              <a:gdLst/>
              <a:ahLst/>
              <a:cxnLst/>
              <a:rect l="l" t="t" r="r" b="b"/>
              <a:pathLst>
                <a:path w="6994144" h="6648323">
                  <a:moveTo>
                    <a:pt x="0" y="575691"/>
                  </a:moveTo>
                  <a:cubicBezTo>
                    <a:pt x="0" y="257683"/>
                    <a:pt x="257810" y="0"/>
                    <a:pt x="575818" y="0"/>
                  </a:cubicBezTo>
                  <a:lnTo>
                    <a:pt x="6418326" y="0"/>
                  </a:lnTo>
                  <a:cubicBezTo>
                    <a:pt x="6736334" y="0"/>
                    <a:pt x="6994144" y="257683"/>
                    <a:pt x="6994144" y="575691"/>
                  </a:cubicBezTo>
                  <a:lnTo>
                    <a:pt x="6994144" y="6072632"/>
                  </a:lnTo>
                  <a:cubicBezTo>
                    <a:pt x="6994144" y="6390513"/>
                    <a:pt x="6736334" y="6648323"/>
                    <a:pt x="6418326" y="6648323"/>
                  </a:cubicBezTo>
                  <a:lnTo>
                    <a:pt x="575818" y="6648323"/>
                  </a:lnTo>
                  <a:cubicBezTo>
                    <a:pt x="257810" y="6648323"/>
                    <a:pt x="0" y="6390640"/>
                    <a:pt x="0" y="6072632"/>
                  </a:cubicBezTo>
                  <a:close/>
                </a:path>
              </a:pathLst>
            </a:custGeom>
            <a:solidFill>
              <a:srgbClr val="0A081B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7032244" cy="6686423"/>
            </a:xfrm>
            <a:custGeom>
              <a:avLst/>
              <a:gdLst/>
              <a:ahLst/>
              <a:cxnLst/>
              <a:rect l="l" t="t" r="r" b="b"/>
              <a:pathLst>
                <a:path w="7032244" h="6686423">
                  <a:moveTo>
                    <a:pt x="0" y="594741"/>
                  </a:moveTo>
                  <a:cubicBezTo>
                    <a:pt x="0" y="266319"/>
                    <a:pt x="266319" y="0"/>
                    <a:pt x="594868" y="0"/>
                  </a:cubicBezTo>
                  <a:lnTo>
                    <a:pt x="6437376" y="0"/>
                  </a:lnTo>
                  <a:lnTo>
                    <a:pt x="6437376" y="19050"/>
                  </a:lnTo>
                  <a:lnTo>
                    <a:pt x="6437376" y="0"/>
                  </a:lnTo>
                  <a:cubicBezTo>
                    <a:pt x="6765925" y="0"/>
                    <a:pt x="7032244" y="266319"/>
                    <a:pt x="7032244" y="594741"/>
                  </a:cubicBezTo>
                  <a:lnTo>
                    <a:pt x="7013194" y="594741"/>
                  </a:lnTo>
                  <a:lnTo>
                    <a:pt x="7032244" y="594741"/>
                  </a:lnTo>
                  <a:lnTo>
                    <a:pt x="7032244" y="6091682"/>
                  </a:lnTo>
                  <a:lnTo>
                    <a:pt x="7013194" y="6091682"/>
                  </a:lnTo>
                  <a:lnTo>
                    <a:pt x="7032244" y="6091682"/>
                  </a:lnTo>
                  <a:cubicBezTo>
                    <a:pt x="7032244" y="6420104"/>
                    <a:pt x="6765925" y="6686423"/>
                    <a:pt x="6437376" y="6686423"/>
                  </a:cubicBezTo>
                  <a:lnTo>
                    <a:pt x="6437376" y="6667373"/>
                  </a:lnTo>
                  <a:lnTo>
                    <a:pt x="6437376" y="6686423"/>
                  </a:lnTo>
                  <a:lnTo>
                    <a:pt x="594868" y="6686423"/>
                  </a:lnTo>
                  <a:lnTo>
                    <a:pt x="594868" y="6667373"/>
                  </a:lnTo>
                  <a:lnTo>
                    <a:pt x="594868" y="6686423"/>
                  </a:lnTo>
                  <a:cubicBezTo>
                    <a:pt x="266319" y="6686296"/>
                    <a:pt x="0" y="6420104"/>
                    <a:pt x="0" y="6091682"/>
                  </a:cubicBezTo>
                  <a:lnTo>
                    <a:pt x="0" y="594741"/>
                  </a:lnTo>
                  <a:lnTo>
                    <a:pt x="19050" y="594741"/>
                  </a:lnTo>
                  <a:lnTo>
                    <a:pt x="0" y="594741"/>
                  </a:lnTo>
                  <a:moveTo>
                    <a:pt x="38100" y="594741"/>
                  </a:moveTo>
                  <a:lnTo>
                    <a:pt x="38100" y="6091682"/>
                  </a:lnTo>
                  <a:lnTo>
                    <a:pt x="19050" y="6091682"/>
                  </a:lnTo>
                  <a:lnTo>
                    <a:pt x="38100" y="6091682"/>
                  </a:lnTo>
                  <a:cubicBezTo>
                    <a:pt x="38100" y="6399149"/>
                    <a:pt x="287401" y="6648323"/>
                    <a:pt x="594868" y="6648323"/>
                  </a:cubicBezTo>
                  <a:lnTo>
                    <a:pt x="6437376" y="6648323"/>
                  </a:lnTo>
                  <a:cubicBezTo>
                    <a:pt x="6744843" y="6648323"/>
                    <a:pt x="6994144" y="6399149"/>
                    <a:pt x="6994144" y="6091682"/>
                  </a:cubicBezTo>
                  <a:lnTo>
                    <a:pt x="6994144" y="594741"/>
                  </a:lnTo>
                  <a:cubicBezTo>
                    <a:pt x="6994144" y="287274"/>
                    <a:pt x="6744843" y="38100"/>
                    <a:pt x="6437376" y="38100"/>
                  </a:cubicBezTo>
                  <a:lnTo>
                    <a:pt x="594868" y="38100"/>
                  </a:lnTo>
                  <a:lnTo>
                    <a:pt x="594868" y="19050"/>
                  </a:lnTo>
                  <a:lnTo>
                    <a:pt x="594868" y="38100"/>
                  </a:lnTo>
                  <a:cubicBezTo>
                    <a:pt x="287401" y="38100"/>
                    <a:pt x="38100" y="287274"/>
                    <a:pt x="38100" y="594741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323527" y="4202163"/>
            <a:ext cx="3198019" cy="428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🟢</a:t>
            </a:r>
            <a:r>
              <a:rPr lang="en-US" sz="2499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 Low Risk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3527" y="4734373"/>
            <a:ext cx="4613072" cy="315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1812" i="1" dirty="0">
                <a:solidFill>
                  <a:srgbClr val="E0E4E6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Model Prediction Probability: 0-42%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23527" y="5232197"/>
            <a:ext cx="4613072" cy="1411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249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Characteristics:</a:t>
            </a:r>
            <a:r>
              <a:rPr lang="en-US" sz="224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Healthy vital signs, normal cholesterol, and positive lifestyle factors.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23527" y="6728222"/>
            <a:ext cx="4613072" cy="1411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249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Recommendation:</a:t>
            </a:r>
            <a:r>
              <a:rPr lang="en-US" sz="224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Maintain healthy habits and adhere to routine check-ups for continued wellness.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506918" y="3900192"/>
            <a:ext cx="5274173" cy="5014760"/>
            <a:chOff x="0" y="0"/>
            <a:chExt cx="7032231" cy="6686347"/>
          </a:xfrm>
        </p:grpSpPr>
        <p:sp>
          <p:nvSpPr>
            <p:cNvPr id="16" name="Freeform 16"/>
            <p:cNvSpPr/>
            <p:nvPr/>
          </p:nvSpPr>
          <p:spPr>
            <a:xfrm>
              <a:off x="19050" y="19050"/>
              <a:ext cx="6994144" cy="6648323"/>
            </a:xfrm>
            <a:custGeom>
              <a:avLst/>
              <a:gdLst/>
              <a:ahLst/>
              <a:cxnLst/>
              <a:rect l="l" t="t" r="r" b="b"/>
              <a:pathLst>
                <a:path w="6994144" h="6648323">
                  <a:moveTo>
                    <a:pt x="0" y="575691"/>
                  </a:moveTo>
                  <a:cubicBezTo>
                    <a:pt x="0" y="257683"/>
                    <a:pt x="257810" y="0"/>
                    <a:pt x="575818" y="0"/>
                  </a:cubicBezTo>
                  <a:lnTo>
                    <a:pt x="6418326" y="0"/>
                  </a:lnTo>
                  <a:cubicBezTo>
                    <a:pt x="6736334" y="0"/>
                    <a:pt x="6994144" y="257683"/>
                    <a:pt x="6994144" y="575691"/>
                  </a:cubicBezTo>
                  <a:lnTo>
                    <a:pt x="6994144" y="6072632"/>
                  </a:lnTo>
                  <a:cubicBezTo>
                    <a:pt x="6994144" y="6390513"/>
                    <a:pt x="6736334" y="6648323"/>
                    <a:pt x="6418326" y="6648323"/>
                  </a:cubicBezTo>
                  <a:lnTo>
                    <a:pt x="575818" y="6648323"/>
                  </a:lnTo>
                  <a:cubicBezTo>
                    <a:pt x="257810" y="6648323"/>
                    <a:pt x="0" y="6390640"/>
                    <a:pt x="0" y="6072632"/>
                  </a:cubicBezTo>
                  <a:close/>
                </a:path>
              </a:pathLst>
            </a:custGeom>
            <a:solidFill>
              <a:srgbClr val="0A081B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7032244" cy="6686423"/>
            </a:xfrm>
            <a:custGeom>
              <a:avLst/>
              <a:gdLst/>
              <a:ahLst/>
              <a:cxnLst/>
              <a:rect l="l" t="t" r="r" b="b"/>
              <a:pathLst>
                <a:path w="7032244" h="6686423">
                  <a:moveTo>
                    <a:pt x="0" y="594741"/>
                  </a:moveTo>
                  <a:cubicBezTo>
                    <a:pt x="0" y="266319"/>
                    <a:pt x="266319" y="0"/>
                    <a:pt x="594868" y="0"/>
                  </a:cubicBezTo>
                  <a:lnTo>
                    <a:pt x="6437376" y="0"/>
                  </a:lnTo>
                  <a:lnTo>
                    <a:pt x="6437376" y="19050"/>
                  </a:lnTo>
                  <a:lnTo>
                    <a:pt x="6437376" y="0"/>
                  </a:lnTo>
                  <a:cubicBezTo>
                    <a:pt x="6765925" y="0"/>
                    <a:pt x="7032244" y="266319"/>
                    <a:pt x="7032244" y="594741"/>
                  </a:cubicBezTo>
                  <a:lnTo>
                    <a:pt x="7013194" y="594741"/>
                  </a:lnTo>
                  <a:lnTo>
                    <a:pt x="7032244" y="594741"/>
                  </a:lnTo>
                  <a:lnTo>
                    <a:pt x="7032244" y="6091682"/>
                  </a:lnTo>
                  <a:lnTo>
                    <a:pt x="7013194" y="6091682"/>
                  </a:lnTo>
                  <a:lnTo>
                    <a:pt x="7032244" y="6091682"/>
                  </a:lnTo>
                  <a:cubicBezTo>
                    <a:pt x="7032244" y="6420104"/>
                    <a:pt x="6765925" y="6686423"/>
                    <a:pt x="6437376" y="6686423"/>
                  </a:cubicBezTo>
                  <a:lnTo>
                    <a:pt x="6437376" y="6667373"/>
                  </a:lnTo>
                  <a:lnTo>
                    <a:pt x="6437376" y="6686423"/>
                  </a:lnTo>
                  <a:lnTo>
                    <a:pt x="594868" y="6686423"/>
                  </a:lnTo>
                  <a:lnTo>
                    <a:pt x="594868" y="6667373"/>
                  </a:lnTo>
                  <a:lnTo>
                    <a:pt x="594868" y="6686423"/>
                  </a:lnTo>
                  <a:cubicBezTo>
                    <a:pt x="266319" y="6686296"/>
                    <a:pt x="0" y="6420104"/>
                    <a:pt x="0" y="6091682"/>
                  </a:cubicBezTo>
                  <a:lnTo>
                    <a:pt x="0" y="594741"/>
                  </a:lnTo>
                  <a:lnTo>
                    <a:pt x="19050" y="594741"/>
                  </a:lnTo>
                  <a:lnTo>
                    <a:pt x="0" y="594741"/>
                  </a:lnTo>
                  <a:moveTo>
                    <a:pt x="38100" y="594741"/>
                  </a:moveTo>
                  <a:lnTo>
                    <a:pt x="38100" y="6091682"/>
                  </a:lnTo>
                  <a:lnTo>
                    <a:pt x="19050" y="6091682"/>
                  </a:lnTo>
                  <a:lnTo>
                    <a:pt x="38100" y="6091682"/>
                  </a:lnTo>
                  <a:cubicBezTo>
                    <a:pt x="38100" y="6399149"/>
                    <a:pt x="287401" y="6648323"/>
                    <a:pt x="594868" y="6648323"/>
                  </a:cubicBezTo>
                  <a:lnTo>
                    <a:pt x="6437376" y="6648323"/>
                  </a:lnTo>
                  <a:cubicBezTo>
                    <a:pt x="6744843" y="6648323"/>
                    <a:pt x="6994144" y="6399149"/>
                    <a:pt x="6994144" y="6091682"/>
                  </a:cubicBezTo>
                  <a:lnTo>
                    <a:pt x="6994144" y="594741"/>
                  </a:lnTo>
                  <a:cubicBezTo>
                    <a:pt x="6994144" y="287274"/>
                    <a:pt x="6744843" y="38100"/>
                    <a:pt x="6437376" y="38100"/>
                  </a:cubicBezTo>
                  <a:lnTo>
                    <a:pt x="594868" y="38100"/>
                  </a:lnTo>
                  <a:lnTo>
                    <a:pt x="594868" y="19050"/>
                  </a:lnTo>
                  <a:lnTo>
                    <a:pt x="594868" y="38100"/>
                  </a:lnTo>
                  <a:cubicBezTo>
                    <a:pt x="287401" y="38100"/>
                    <a:pt x="38100" y="287274"/>
                    <a:pt x="38100" y="594741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6837464" y="4202163"/>
            <a:ext cx="3198019" cy="428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🟠</a:t>
            </a:r>
            <a:r>
              <a:rPr lang="en-US" sz="2499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 Medium Risk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37464" y="4734373"/>
            <a:ext cx="4613072" cy="315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1812" i="1" dirty="0">
                <a:solidFill>
                  <a:srgbClr val="E0E4E6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Model Prediction Probability: 42-65%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37464" y="5232197"/>
            <a:ext cx="4613072" cy="1411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249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Characteristics:</a:t>
            </a:r>
            <a:r>
              <a:rPr lang="en-US" sz="224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Presence of some elevated markers, borderline values, or mixed lifestyle factors.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37464" y="6728222"/>
            <a:ext cx="4613072" cy="1856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249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Recommendation:</a:t>
            </a:r>
            <a:r>
              <a:rPr lang="en-US" sz="224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Implement targeted lifestyle modifications, regular monitoring, and consult a healthcare provider for guidance.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2020845" y="3900192"/>
            <a:ext cx="5274173" cy="5014760"/>
            <a:chOff x="0" y="0"/>
            <a:chExt cx="7032231" cy="6686347"/>
          </a:xfrm>
        </p:grpSpPr>
        <p:sp>
          <p:nvSpPr>
            <p:cNvPr id="23" name="Freeform 23"/>
            <p:cNvSpPr/>
            <p:nvPr/>
          </p:nvSpPr>
          <p:spPr>
            <a:xfrm>
              <a:off x="19050" y="19050"/>
              <a:ext cx="6994144" cy="6648323"/>
            </a:xfrm>
            <a:custGeom>
              <a:avLst/>
              <a:gdLst/>
              <a:ahLst/>
              <a:cxnLst/>
              <a:rect l="l" t="t" r="r" b="b"/>
              <a:pathLst>
                <a:path w="6994144" h="6648323">
                  <a:moveTo>
                    <a:pt x="0" y="575691"/>
                  </a:moveTo>
                  <a:cubicBezTo>
                    <a:pt x="0" y="257683"/>
                    <a:pt x="257810" y="0"/>
                    <a:pt x="575818" y="0"/>
                  </a:cubicBezTo>
                  <a:lnTo>
                    <a:pt x="6418326" y="0"/>
                  </a:lnTo>
                  <a:cubicBezTo>
                    <a:pt x="6736334" y="0"/>
                    <a:pt x="6994144" y="257683"/>
                    <a:pt x="6994144" y="575691"/>
                  </a:cubicBezTo>
                  <a:lnTo>
                    <a:pt x="6994144" y="6072632"/>
                  </a:lnTo>
                  <a:cubicBezTo>
                    <a:pt x="6994144" y="6390513"/>
                    <a:pt x="6736334" y="6648323"/>
                    <a:pt x="6418326" y="6648323"/>
                  </a:cubicBezTo>
                  <a:lnTo>
                    <a:pt x="575818" y="6648323"/>
                  </a:lnTo>
                  <a:cubicBezTo>
                    <a:pt x="257810" y="6648323"/>
                    <a:pt x="0" y="6390640"/>
                    <a:pt x="0" y="6072632"/>
                  </a:cubicBezTo>
                  <a:close/>
                </a:path>
              </a:pathLst>
            </a:custGeom>
            <a:solidFill>
              <a:srgbClr val="0A081B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7032244" cy="6686423"/>
            </a:xfrm>
            <a:custGeom>
              <a:avLst/>
              <a:gdLst/>
              <a:ahLst/>
              <a:cxnLst/>
              <a:rect l="l" t="t" r="r" b="b"/>
              <a:pathLst>
                <a:path w="7032244" h="6686423">
                  <a:moveTo>
                    <a:pt x="0" y="594741"/>
                  </a:moveTo>
                  <a:cubicBezTo>
                    <a:pt x="0" y="266319"/>
                    <a:pt x="266319" y="0"/>
                    <a:pt x="594868" y="0"/>
                  </a:cubicBezTo>
                  <a:lnTo>
                    <a:pt x="6437376" y="0"/>
                  </a:lnTo>
                  <a:lnTo>
                    <a:pt x="6437376" y="19050"/>
                  </a:lnTo>
                  <a:lnTo>
                    <a:pt x="6437376" y="0"/>
                  </a:lnTo>
                  <a:cubicBezTo>
                    <a:pt x="6765925" y="0"/>
                    <a:pt x="7032244" y="266319"/>
                    <a:pt x="7032244" y="594741"/>
                  </a:cubicBezTo>
                  <a:lnTo>
                    <a:pt x="7013194" y="594741"/>
                  </a:lnTo>
                  <a:lnTo>
                    <a:pt x="7032244" y="594741"/>
                  </a:lnTo>
                  <a:lnTo>
                    <a:pt x="7032244" y="6091682"/>
                  </a:lnTo>
                  <a:lnTo>
                    <a:pt x="7013194" y="6091682"/>
                  </a:lnTo>
                  <a:lnTo>
                    <a:pt x="7032244" y="6091682"/>
                  </a:lnTo>
                  <a:cubicBezTo>
                    <a:pt x="7032244" y="6420104"/>
                    <a:pt x="6765925" y="6686423"/>
                    <a:pt x="6437376" y="6686423"/>
                  </a:cubicBezTo>
                  <a:lnTo>
                    <a:pt x="6437376" y="6667373"/>
                  </a:lnTo>
                  <a:lnTo>
                    <a:pt x="6437376" y="6686423"/>
                  </a:lnTo>
                  <a:lnTo>
                    <a:pt x="594868" y="6686423"/>
                  </a:lnTo>
                  <a:lnTo>
                    <a:pt x="594868" y="6667373"/>
                  </a:lnTo>
                  <a:lnTo>
                    <a:pt x="594868" y="6686423"/>
                  </a:lnTo>
                  <a:cubicBezTo>
                    <a:pt x="266319" y="6686296"/>
                    <a:pt x="0" y="6420104"/>
                    <a:pt x="0" y="6091682"/>
                  </a:cubicBezTo>
                  <a:lnTo>
                    <a:pt x="0" y="594741"/>
                  </a:lnTo>
                  <a:lnTo>
                    <a:pt x="19050" y="594741"/>
                  </a:lnTo>
                  <a:lnTo>
                    <a:pt x="0" y="594741"/>
                  </a:lnTo>
                  <a:moveTo>
                    <a:pt x="38100" y="594741"/>
                  </a:moveTo>
                  <a:lnTo>
                    <a:pt x="38100" y="6091682"/>
                  </a:lnTo>
                  <a:lnTo>
                    <a:pt x="19050" y="6091682"/>
                  </a:lnTo>
                  <a:lnTo>
                    <a:pt x="38100" y="6091682"/>
                  </a:lnTo>
                  <a:cubicBezTo>
                    <a:pt x="38100" y="6399149"/>
                    <a:pt x="287401" y="6648323"/>
                    <a:pt x="594868" y="6648323"/>
                  </a:cubicBezTo>
                  <a:lnTo>
                    <a:pt x="6437376" y="6648323"/>
                  </a:lnTo>
                  <a:cubicBezTo>
                    <a:pt x="6744843" y="6648323"/>
                    <a:pt x="6994144" y="6399149"/>
                    <a:pt x="6994144" y="6091682"/>
                  </a:cubicBezTo>
                  <a:lnTo>
                    <a:pt x="6994144" y="594741"/>
                  </a:lnTo>
                  <a:cubicBezTo>
                    <a:pt x="6994144" y="287274"/>
                    <a:pt x="6744843" y="38100"/>
                    <a:pt x="6437376" y="38100"/>
                  </a:cubicBezTo>
                  <a:lnTo>
                    <a:pt x="594868" y="38100"/>
                  </a:lnTo>
                  <a:lnTo>
                    <a:pt x="594868" y="19050"/>
                  </a:lnTo>
                  <a:lnTo>
                    <a:pt x="594868" y="38100"/>
                  </a:lnTo>
                  <a:cubicBezTo>
                    <a:pt x="287401" y="38100"/>
                    <a:pt x="38100" y="287274"/>
                    <a:pt x="38100" y="594741"/>
                  </a:cubicBezTo>
                  <a:close/>
                </a:path>
              </a:pathLst>
            </a:custGeom>
            <a:solidFill>
              <a:srgbClr val="F44336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12351391" y="4202163"/>
            <a:ext cx="3198019" cy="428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🔴</a:t>
            </a:r>
            <a:r>
              <a:rPr lang="en-US" sz="2499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 High Risk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51391" y="4734373"/>
            <a:ext cx="4613072" cy="315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1812" i="1" dirty="0">
                <a:solidFill>
                  <a:srgbClr val="E0E4E6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Model Prediction Probability: 65-100%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51391" y="5232197"/>
            <a:ext cx="4613072" cy="1411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249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Characteristics:</a:t>
            </a:r>
            <a:r>
              <a:rPr lang="en-US" sz="224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Multiple elevated markers, concerning vital signs, or detrimental lifestyle factors.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351391" y="6728222"/>
            <a:ext cx="4613072" cy="1856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249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Recommendation:</a:t>
            </a:r>
            <a:r>
              <a:rPr lang="en-US" sz="224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Seek immediate medical consultation, engage in intensive monitoring, and consider preventive treatment options.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613297" y="637137"/>
            <a:ext cx="15988903" cy="6338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4250" b="1" dirty="0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Critical Evaluation Metrics in Healthcare ML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13297" y="1870177"/>
            <a:ext cx="7857534" cy="5238302"/>
            <a:chOff x="0" y="0"/>
            <a:chExt cx="10476713" cy="6984403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0476738" cy="6984365"/>
            </a:xfrm>
            <a:custGeom>
              <a:avLst/>
              <a:gdLst/>
              <a:ahLst/>
              <a:cxnLst/>
              <a:rect l="l" t="t" r="r" b="b"/>
              <a:pathLst>
                <a:path w="10476738" h="6984365">
                  <a:moveTo>
                    <a:pt x="0" y="0"/>
                  </a:moveTo>
                  <a:lnTo>
                    <a:pt x="10476738" y="0"/>
                  </a:lnTo>
                  <a:lnTo>
                    <a:pt x="10476738" y="6984365"/>
                  </a:lnTo>
                  <a:lnTo>
                    <a:pt x="0" y="6984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0447887" y="3550291"/>
            <a:ext cx="6236198" cy="1820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Why Recall is Paramount in Healthcare:</a:t>
            </a:r>
            <a:r>
              <a:rPr lang="en-US" sz="187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In medical diagnoses, missing a true positive (False Negative) can have life-threatening consequences. High recall ensures that as many disease cases as possible are identified, even if it means a few false alarms (False Positives).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079536" y="3607441"/>
            <a:ext cx="28575" cy="1763611"/>
            <a:chOff x="0" y="0"/>
            <a:chExt cx="38100" cy="23514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100" cy="2351532"/>
            </a:xfrm>
            <a:custGeom>
              <a:avLst/>
              <a:gdLst/>
              <a:ahLst/>
              <a:cxnLst/>
              <a:rect l="l" t="t" r="r" b="b"/>
              <a:pathLst>
                <a:path w="38100" h="2351532">
                  <a:moveTo>
                    <a:pt x="0" y="0"/>
                  </a:moveTo>
                  <a:lnTo>
                    <a:pt x="38100" y="0"/>
                  </a:lnTo>
                  <a:lnTo>
                    <a:pt x="38100" y="2351532"/>
                  </a:lnTo>
                  <a:lnTo>
                    <a:pt x="0" y="2351532"/>
                  </a:lnTo>
                  <a:close/>
                </a:path>
              </a:pathLst>
            </a:custGeom>
            <a:solidFill>
              <a:srgbClr val="16FFBB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599009" y="7533827"/>
            <a:ext cx="3647484" cy="2093119"/>
            <a:chOff x="0" y="0"/>
            <a:chExt cx="4863313" cy="2790825"/>
          </a:xfrm>
        </p:grpSpPr>
        <p:sp>
          <p:nvSpPr>
            <p:cNvPr id="13" name="Freeform 13"/>
            <p:cNvSpPr/>
            <p:nvPr/>
          </p:nvSpPr>
          <p:spPr>
            <a:xfrm>
              <a:off x="19050" y="19050"/>
              <a:ext cx="4825238" cy="2752598"/>
            </a:xfrm>
            <a:custGeom>
              <a:avLst/>
              <a:gdLst/>
              <a:ahLst/>
              <a:cxnLst/>
              <a:rect l="l" t="t" r="r" b="b"/>
              <a:pathLst>
                <a:path w="4825238" h="2752598">
                  <a:moveTo>
                    <a:pt x="0" y="491109"/>
                  </a:moveTo>
                  <a:cubicBezTo>
                    <a:pt x="0" y="219837"/>
                    <a:pt x="221234" y="0"/>
                    <a:pt x="494030" y="0"/>
                  </a:cubicBezTo>
                  <a:lnTo>
                    <a:pt x="4331208" y="0"/>
                  </a:lnTo>
                  <a:cubicBezTo>
                    <a:pt x="4604004" y="0"/>
                    <a:pt x="4825238" y="219837"/>
                    <a:pt x="4825238" y="491109"/>
                  </a:cubicBezTo>
                  <a:lnTo>
                    <a:pt x="4825238" y="2261489"/>
                  </a:lnTo>
                  <a:cubicBezTo>
                    <a:pt x="4825238" y="2532761"/>
                    <a:pt x="4604004" y="2752598"/>
                    <a:pt x="4331208" y="2752598"/>
                  </a:cubicBezTo>
                  <a:lnTo>
                    <a:pt x="494030" y="2752598"/>
                  </a:lnTo>
                  <a:cubicBezTo>
                    <a:pt x="221234" y="2752598"/>
                    <a:pt x="0" y="2532761"/>
                    <a:pt x="0" y="2261489"/>
                  </a:cubicBez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4863338" cy="2790698"/>
            </a:xfrm>
            <a:custGeom>
              <a:avLst/>
              <a:gdLst/>
              <a:ahLst/>
              <a:cxnLst/>
              <a:rect l="l" t="t" r="r" b="b"/>
              <a:pathLst>
                <a:path w="4863338" h="2790698">
                  <a:moveTo>
                    <a:pt x="0" y="510159"/>
                  </a:moveTo>
                  <a:cubicBezTo>
                    <a:pt x="0" y="228346"/>
                    <a:pt x="229870" y="0"/>
                    <a:pt x="513080" y="0"/>
                  </a:cubicBezTo>
                  <a:lnTo>
                    <a:pt x="4350258" y="0"/>
                  </a:lnTo>
                  <a:lnTo>
                    <a:pt x="4350258" y="19050"/>
                  </a:lnTo>
                  <a:lnTo>
                    <a:pt x="4350258" y="0"/>
                  </a:lnTo>
                  <a:cubicBezTo>
                    <a:pt x="4633468" y="0"/>
                    <a:pt x="4863338" y="228346"/>
                    <a:pt x="4863338" y="510159"/>
                  </a:cubicBezTo>
                  <a:lnTo>
                    <a:pt x="4844288" y="510159"/>
                  </a:lnTo>
                  <a:lnTo>
                    <a:pt x="4863338" y="510159"/>
                  </a:lnTo>
                  <a:lnTo>
                    <a:pt x="4863338" y="2280539"/>
                  </a:lnTo>
                  <a:lnTo>
                    <a:pt x="4844288" y="2280539"/>
                  </a:lnTo>
                  <a:lnTo>
                    <a:pt x="4863338" y="2280539"/>
                  </a:lnTo>
                  <a:cubicBezTo>
                    <a:pt x="4863338" y="2562352"/>
                    <a:pt x="4633468" y="2790698"/>
                    <a:pt x="4350258" y="2790698"/>
                  </a:cubicBezTo>
                  <a:lnTo>
                    <a:pt x="4350258" y="2771648"/>
                  </a:lnTo>
                  <a:lnTo>
                    <a:pt x="4350258" y="2790698"/>
                  </a:lnTo>
                  <a:lnTo>
                    <a:pt x="513080" y="2790698"/>
                  </a:lnTo>
                  <a:lnTo>
                    <a:pt x="513080" y="2771648"/>
                  </a:lnTo>
                  <a:lnTo>
                    <a:pt x="513080" y="2790698"/>
                  </a:lnTo>
                  <a:cubicBezTo>
                    <a:pt x="229870" y="2790825"/>
                    <a:pt x="0" y="2562479"/>
                    <a:pt x="0" y="2280666"/>
                  </a:cubicBezTo>
                  <a:lnTo>
                    <a:pt x="0" y="510159"/>
                  </a:lnTo>
                  <a:lnTo>
                    <a:pt x="19050" y="510159"/>
                  </a:lnTo>
                  <a:lnTo>
                    <a:pt x="0" y="510159"/>
                  </a:lnTo>
                  <a:moveTo>
                    <a:pt x="38100" y="510159"/>
                  </a:moveTo>
                  <a:lnTo>
                    <a:pt x="38100" y="2280539"/>
                  </a:lnTo>
                  <a:lnTo>
                    <a:pt x="19050" y="2280539"/>
                  </a:lnTo>
                  <a:lnTo>
                    <a:pt x="38100" y="2280539"/>
                  </a:lnTo>
                  <a:cubicBezTo>
                    <a:pt x="38100" y="2541143"/>
                    <a:pt x="250698" y="2752598"/>
                    <a:pt x="513080" y="2752598"/>
                  </a:cubicBezTo>
                  <a:lnTo>
                    <a:pt x="4350258" y="2752598"/>
                  </a:lnTo>
                  <a:cubicBezTo>
                    <a:pt x="4612640" y="2752598"/>
                    <a:pt x="4825238" y="2541143"/>
                    <a:pt x="4825238" y="2280539"/>
                  </a:cubicBezTo>
                  <a:lnTo>
                    <a:pt x="4825238" y="510159"/>
                  </a:lnTo>
                  <a:cubicBezTo>
                    <a:pt x="4825238" y="249555"/>
                    <a:pt x="4612640" y="38100"/>
                    <a:pt x="4350258" y="38100"/>
                  </a:cubicBezTo>
                  <a:lnTo>
                    <a:pt x="513080" y="38100"/>
                  </a:lnTo>
                  <a:lnTo>
                    <a:pt x="513080" y="19050"/>
                  </a:lnTo>
                  <a:lnTo>
                    <a:pt x="513080" y="38100"/>
                  </a:lnTo>
                  <a:cubicBezTo>
                    <a:pt x="250698" y="38100"/>
                    <a:pt x="38100" y="249555"/>
                    <a:pt x="38100" y="510159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887436" y="7803204"/>
            <a:ext cx="2728465" cy="360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25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Accuracy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87436" y="8223199"/>
            <a:ext cx="3070622" cy="762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Overall correctness of the model's predictions.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413172" y="7533827"/>
            <a:ext cx="3647484" cy="2093119"/>
            <a:chOff x="0" y="0"/>
            <a:chExt cx="4863313" cy="2790825"/>
          </a:xfrm>
        </p:grpSpPr>
        <p:sp>
          <p:nvSpPr>
            <p:cNvPr id="18" name="Freeform 18"/>
            <p:cNvSpPr/>
            <p:nvPr/>
          </p:nvSpPr>
          <p:spPr>
            <a:xfrm>
              <a:off x="19050" y="19050"/>
              <a:ext cx="4825238" cy="2752598"/>
            </a:xfrm>
            <a:custGeom>
              <a:avLst/>
              <a:gdLst/>
              <a:ahLst/>
              <a:cxnLst/>
              <a:rect l="l" t="t" r="r" b="b"/>
              <a:pathLst>
                <a:path w="4825238" h="2752598">
                  <a:moveTo>
                    <a:pt x="0" y="491109"/>
                  </a:moveTo>
                  <a:cubicBezTo>
                    <a:pt x="0" y="219837"/>
                    <a:pt x="221234" y="0"/>
                    <a:pt x="494030" y="0"/>
                  </a:cubicBezTo>
                  <a:lnTo>
                    <a:pt x="4331208" y="0"/>
                  </a:lnTo>
                  <a:cubicBezTo>
                    <a:pt x="4604004" y="0"/>
                    <a:pt x="4825238" y="219837"/>
                    <a:pt x="4825238" y="491109"/>
                  </a:cubicBezTo>
                  <a:lnTo>
                    <a:pt x="4825238" y="2261489"/>
                  </a:lnTo>
                  <a:cubicBezTo>
                    <a:pt x="4825238" y="2532761"/>
                    <a:pt x="4604004" y="2752598"/>
                    <a:pt x="4331208" y="2752598"/>
                  </a:cubicBezTo>
                  <a:lnTo>
                    <a:pt x="494030" y="2752598"/>
                  </a:lnTo>
                  <a:cubicBezTo>
                    <a:pt x="221234" y="2752598"/>
                    <a:pt x="0" y="2532761"/>
                    <a:pt x="0" y="2261489"/>
                  </a:cubicBez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4863338" cy="2790698"/>
            </a:xfrm>
            <a:custGeom>
              <a:avLst/>
              <a:gdLst/>
              <a:ahLst/>
              <a:cxnLst/>
              <a:rect l="l" t="t" r="r" b="b"/>
              <a:pathLst>
                <a:path w="4863338" h="2790698">
                  <a:moveTo>
                    <a:pt x="0" y="510159"/>
                  </a:moveTo>
                  <a:cubicBezTo>
                    <a:pt x="0" y="228346"/>
                    <a:pt x="229870" y="0"/>
                    <a:pt x="513080" y="0"/>
                  </a:cubicBezTo>
                  <a:lnTo>
                    <a:pt x="4350258" y="0"/>
                  </a:lnTo>
                  <a:lnTo>
                    <a:pt x="4350258" y="19050"/>
                  </a:lnTo>
                  <a:lnTo>
                    <a:pt x="4350258" y="0"/>
                  </a:lnTo>
                  <a:cubicBezTo>
                    <a:pt x="4633468" y="0"/>
                    <a:pt x="4863338" y="228346"/>
                    <a:pt x="4863338" y="510159"/>
                  </a:cubicBezTo>
                  <a:lnTo>
                    <a:pt x="4844288" y="510159"/>
                  </a:lnTo>
                  <a:lnTo>
                    <a:pt x="4863338" y="510159"/>
                  </a:lnTo>
                  <a:lnTo>
                    <a:pt x="4863338" y="2280539"/>
                  </a:lnTo>
                  <a:lnTo>
                    <a:pt x="4844288" y="2280539"/>
                  </a:lnTo>
                  <a:lnTo>
                    <a:pt x="4863338" y="2280539"/>
                  </a:lnTo>
                  <a:cubicBezTo>
                    <a:pt x="4863338" y="2562352"/>
                    <a:pt x="4633468" y="2790698"/>
                    <a:pt x="4350258" y="2790698"/>
                  </a:cubicBezTo>
                  <a:lnTo>
                    <a:pt x="4350258" y="2771648"/>
                  </a:lnTo>
                  <a:lnTo>
                    <a:pt x="4350258" y="2790698"/>
                  </a:lnTo>
                  <a:lnTo>
                    <a:pt x="513080" y="2790698"/>
                  </a:lnTo>
                  <a:lnTo>
                    <a:pt x="513080" y="2771648"/>
                  </a:lnTo>
                  <a:lnTo>
                    <a:pt x="513080" y="2790698"/>
                  </a:lnTo>
                  <a:cubicBezTo>
                    <a:pt x="229870" y="2790825"/>
                    <a:pt x="0" y="2562479"/>
                    <a:pt x="0" y="2280666"/>
                  </a:cubicBezTo>
                  <a:lnTo>
                    <a:pt x="0" y="510159"/>
                  </a:lnTo>
                  <a:lnTo>
                    <a:pt x="19050" y="510159"/>
                  </a:lnTo>
                  <a:lnTo>
                    <a:pt x="0" y="510159"/>
                  </a:lnTo>
                  <a:moveTo>
                    <a:pt x="38100" y="510159"/>
                  </a:moveTo>
                  <a:lnTo>
                    <a:pt x="38100" y="2280539"/>
                  </a:lnTo>
                  <a:lnTo>
                    <a:pt x="19050" y="2280539"/>
                  </a:lnTo>
                  <a:lnTo>
                    <a:pt x="38100" y="2280539"/>
                  </a:lnTo>
                  <a:cubicBezTo>
                    <a:pt x="38100" y="2541143"/>
                    <a:pt x="250698" y="2752598"/>
                    <a:pt x="513080" y="2752598"/>
                  </a:cubicBezTo>
                  <a:lnTo>
                    <a:pt x="4350258" y="2752598"/>
                  </a:lnTo>
                  <a:cubicBezTo>
                    <a:pt x="4612640" y="2752598"/>
                    <a:pt x="4825238" y="2541143"/>
                    <a:pt x="4825238" y="2280539"/>
                  </a:cubicBezTo>
                  <a:lnTo>
                    <a:pt x="4825238" y="510159"/>
                  </a:lnTo>
                  <a:cubicBezTo>
                    <a:pt x="4825238" y="249555"/>
                    <a:pt x="4612640" y="38100"/>
                    <a:pt x="4350258" y="38100"/>
                  </a:cubicBezTo>
                  <a:lnTo>
                    <a:pt x="513080" y="38100"/>
                  </a:lnTo>
                  <a:lnTo>
                    <a:pt x="513080" y="19050"/>
                  </a:lnTo>
                  <a:lnTo>
                    <a:pt x="513080" y="38100"/>
                  </a:lnTo>
                  <a:cubicBezTo>
                    <a:pt x="250698" y="38100"/>
                    <a:pt x="38100" y="249555"/>
                    <a:pt x="38100" y="510159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5701608" y="7803204"/>
            <a:ext cx="2728465" cy="360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25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Precision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701608" y="8223199"/>
            <a:ext cx="3070622" cy="111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Proportion of positive identifications that were actually correct.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227344" y="7533827"/>
            <a:ext cx="3647484" cy="2093119"/>
            <a:chOff x="0" y="0"/>
            <a:chExt cx="4863313" cy="2790825"/>
          </a:xfrm>
        </p:grpSpPr>
        <p:sp>
          <p:nvSpPr>
            <p:cNvPr id="23" name="Freeform 23"/>
            <p:cNvSpPr/>
            <p:nvPr/>
          </p:nvSpPr>
          <p:spPr>
            <a:xfrm>
              <a:off x="19050" y="19050"/>
              <a:ext cx="4825238" cy="2752598"/>
            </a:xfrm>
            <a:custGeom>
              <a:avLst/>
              <a:gdLst/>
              <a:ahLst/>
              <a:cxnLst/>
              <a:rect l="l" t="t" r="r" b="b"/>
              <a:pathLst>
                <a:path w="4825238" h="2752598">
                  <a:moveTo>
                    <a:pt x="0" y="491109"/>
                  </a:moveTo>
                  <a:cubicBezTo>
                    <a:pt x="0" y="219837"/>
                    <a:pt x="221234" y="0"/>
                    <a:pt x="494030" y="0"/>
                  </a:cubicBezTo>
                  <a:lnTo>
                    <a:pt x="4331208" y="0"/>
                  </a:lnTo>
                  <a:cubicBezTo>
                    <a:pt x="4604004" y="0"/>
                    <a:pt x="4825238" y="219837"/>
                    <a:pt x="4825238" y="491109"/>
                  </a:cubicBezTo>
                  <a:lnTo>
                    <a:pt x="4825238" y="2261489"/>
                  </a:lnTo>
                  <a:cubicBezTo>
                    <a:pt x="4825238" y="2532761"/>
                    <a:pt x="4604004" y="2752598"/>
                    <a:pt x="4331208" y="2752598"/>
                  </a:cubicBezTo>
                  <a:lnTo>
                    <a:pt x="494030" y="2752598"/>
                  </a:lnTo>
                  <a:cubicBezTo>
                    <a:pt x="221234" y="2752598"/>
                    <a:pt x="0" y="2532761"/>
                    <a:pt x="0" y="2261489"/>
                  </a:cubicBez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4863338" cy="2790698"/>
            </a:xfrm>
            <a:custGeom>
              <a:avLst/>
              <a:gdLst/>
              <a:ahLst/>
              <a:cxnLst/>
              <a:rect l="l" t="t" r="r" b="b"/>
              <a:pathLst>
                <a:path w="4863338" h="2790698">
                  <a:moveTo>
                    <a:pt x="0" y="510159"/>
                  </a:moveTo>
                  <a:cubicBezTo>
                    <a:pt x="0" y="228346"/>
                    <a:pt x="229870" y="0"/>
                    <a:pt x="513080" y="0"/>
                  </a:cubicBezTo>
                  <a:lnTo>
                    <a:pt x="4350258" y="0"/>
                  </a:lnTo>
                  <a:lnTo>
                    <a:pt x="4350258" y="19050"/>
                  </a:lnTo>
                  <a:lnTo>
                    <a:pt x="4350258" y="0"/>
                  </a:lnTo>
                  <a:cubicBezTo>
                    <a:pt x="4633468" y="0"/>
                    <a:pt x="4863338" y="228346"/>
                    <a:pt x="4863338" y="510159"/>
                  </a:cubicBezTo>
                  <a:lnTo>
                    <a:pt x="4844288" y="510159"/>
                  </a:lnTo>
                  <a:lnTo>
                    <a:pt x="4863338" y="510159"/>
                  </a:lnTo>
                  <a:lnTo>
                    <a:pt x="4863338" y="2280539"/>
                  </a:lnTo>
                  <a:lnTo>
                    <a:pt x="4844288" y="2280539"/>
                  </a:lnTo>
                  <a:lnTo>
                    <a:pt x="4863338" y="2280539"/>
                  </a:lnTo>
                  <a:cubicBezTo>
                    <a:pt x="4863338" y="2562352"/>
                    <a:pt x="4633468" y="2790698"/>
                    <a:pt x="4350258" y="2790698"/>
                  </a:cubicBezTo>
                  <a:lnTo>
                    <a:pt x="4350258" y="2771648"/>
                  </a:lnTo>
                  <a:lnTo>
                    <a:pt x="4350258" y="2790698"/>
                  </a:lnTo>
                  <a:lnTo>
                    <a:pt x="513080" y="2790698"/>
                  </a:lnTo>
                  <a:lnTo>
                    <a:pt x="513080" y="2771648"/>
                  </a:lnTo>
                  <a:lnTo>
                    <a:pt x="513080" y="2790698"/>
                  </a:lnTo>
                  <a:cubicBezTo>
                    <a:pt x="229870" y="2790825"/>
                    <a:pt x="0" y="2562479"/>
                    <a:pt x="0" y="2280666"/>
                  </a:cubicBezTo>
                  <a:lnTo>
                    <a:pt x="0" y="510159"/>
                  </a:lnTo>
                  <a:lnTo>
                    <a:pt x="19050" y="510159"/>
                  </a:lnTo>
                  <a:lnTo>
                    <a:pt x="0" y="510159"/>
                  </a:lnTo>
                  <a:moveTo>
                    <a:pt x="38100" y="510159"/>
                  </a:moveTo>
                  <a:lnTo>
                    <a:pt x="38100" y="2280539"/>
                  </a:lnTo>
                  <a:lnTo>
                    <a:pt x="19050" y="2280539"/>
                  </a:lnTo>
                  <a:lnTo>
                    <a:pt x="38100" y="2280539"/>
                  </a:lnTo>
                  <a:cubicBezTo>
                    <a:pt x="38100" y="2541143"/>
                    <a:pt x="250698" y="2752598"/>
                    <a:pt x="513080" y="2752598"/>
                  </a:cubicBezTo>
                  <a:lnTo>
                    <a:pt x="4350258" y="2752598"/>
                  </a:lnTo>
                  <a:cubicBezTo>
                    <a:pt x="4612640" y="2752598"/>
                    <a:pt x="4825238" y="2541143"/>
                    <a:pt x="4825238" y="2280539"/>
                  </a:cubicBezTo>
                  <a:lnTo>
                    <a:pt x="4825238" y="510159"/>
                  </a:lnTo>
                  <a:cubicBezTo>
                    <a:pt x="4825238" y="249555"/>
                    <a:pt x="4612640" y="38100"/>
                    <a:pt x="4350258" y="38100"/>
                  </a:cubicBezTo>
                  <a:lnTo>
                    <a:pt x="513080" y="38100"/>
                  </a:lnTo>
                  <a:lnTo>
                    <a:pt x="513080" y="19050"/>
                  </a:lnTo>
                  <a:lnTo>
                    <a:pt x="513080" y="38100"/>
                  </a:lnTo>
                  <a:cubicBezTo>
                    <a:pt x="250698" y="38100"/>
                    <a:pt x="38100" y="249555"/>
                    <a:pt x="38100" y="510159"/>
                  </a:cubicBezTo>
                  <a:close/>
                </a:path>
              </a:pathLst>
            </a:custGeom>
            <a:solidFill>
              <a:srgbClr val="37A7E7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9515770" y="7803204"/>
            <a:ext cx="2728465" cy="360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25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Recall (Sensitivity)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15770" y="8223199"/>
            <a:ext cx="3070622" cy="111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Proportion of actual positives that were identified correctly.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3041516" y="7533827"/>
            <a:ext cx="3647484" cy="2093119"/>
            <a:chOff x="0" y="0"/>
            <a:chExt cx="4863313" cy="2790825"/>
          </a:xfrm>
        </p:grpSpPr>
        <p:sp>
          <p:nvSpPr>
            <p:cNvPr id="28" name="Freeform 28"/>
            <p:cNvSpPr/>
            <p:nvPr/>
          </p:nvSpPr>
          <p:spPr>
            <a:xfrm>
              <a:off x="19050" y="19050"/>
              <a:ext cx="4825238" cy="2752598"/>
            </a:xfrm>
            <a:custGeom>
              <a:avLst/>
              <a:gdLst/>
              <a:ahLst/>
              <a:cxnLst/>
              <a:rect l="l" t="t" r="r" b="b"/>
              <a:pathLst>
                <a:path w="4825238" h="2752598">
                  <a:moveTo>
                    <a:pt x="0" y="491109"/>
                  </a:moveTo>
                  <a:cubicBezTo>
                    <a:pt x="0" y="219837"/>
                    <a:pt x="221234" y="0"/>
                    <a:pt x="494030" y="0"/>
                  </a:cubicBezTo>
                  <a:lnTo>
                    <a:pt x="4331208" y="0"/>
                  </a:lnTo>
                  <a:cubicBezTo>
                    <a:pt x="4604004" y="0"/>
                    <a:pt x="4825238" y="219837"/>
                    <a:pt x="4825238" y="491109"/>
                  </a:cubicBezTo>
                  <a:lnTo>
                    <a:pt x="4825238" y="2261489"/>
                  </a:lnTo>
                  <a:cubicBezTo>
                    <a:pt x="4825238" y="2532761"/>
                    <a:pt x="4604004" y="2752598"/>
                    <a:pt x="4331208" y="2752598"/>
                  </a:cubicBezTo>
                  <a:lnTo>
                    <a:pt x="494030" y="2752598"/>
                  </a:lnTo>
                  <a:cubicBezTo>
                    <a:pt x="221234" y="2752598"/>
                    <a:pt x="0" y="2532761"/>
                    <a:pt x="0" y="2261489"/>
                  </a:cubicBez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0"/>
              <a:ext cx="4863338" cy="2790698"/>
            </a:xfrm>
            <a:custGeom>
              <a:avLst/>
              <a:gdLst/>
              <a:ahLst/>
              <a:cxnLst/>
              <a:rect l="l" t="t" r="r" b="b"/>
              <a:pathLst>
                <a:path w="4863338" h="2790698">
                  <a:moveTo>
                    <a:pt x="0" y="510159"/>
                  </a:moveTo>
                  <a:cubicBezTo>
                    <a:pt x="0" y="228346"/>
                    <a:pt x="229870" y="0"/>
                    <a:pt x="513080" y="0"/>
                  </a:cubicBezTo>
                  <a:lnTo>
                    <a:pt x="4350258" y="0"/>
                  </a:lnTo>
                  <a:lnTo>
                    <a:pt x="4350258" y="19050"/>
                  </a:lnTo>
                  <a:lnTo>
                    <a:pt x="4350258" y="0"/>
                  </a:lnTo>
                  <a:cubicBezTo>
                    <a:pt x="4633468" y="0"/>
                    <a:pt x="4863338" y="228346"/>
                    <a:pt x="4863338" y="510159"/>
                  </a:cubicBezTo>
                  <a:lnTo>
                    <a:pt x="4844288" y="510159"/>
                  </a:lnTo>
                  <a:lnTo>
                    <a:pt x="4863338" y="510159"/>
                  </a:lnTo>
                  <a:lnTo>
                    <a:pt x="4863338" y="2280539"/>
                  </a:lnTo>
                  <a:lnTo>
                    <a:pt x="4844288" y="2280539"/>
                  </a:lnTo>
                  <a:lnTo>
                    <a:pt x="4863338" y="2280539"/>
                  </a:lnTo>
                  <a:cubicBezTo>
                    <a:pt x="4863338" y="2562352"/>
                    <a:pt x="4633468" y="2790698"/>
                    <a:pt x="4350258" y="2790698"/>
                  </a:cubicBezTo>
                  <a:lnTo>
                    <a:pt x="4350258" y="2771648"/>
                  </a:lnTo>
                  <a:lnTo>
                    <a:pt x="4350258" y="2790698"/>
                  </a:lnTo>
                  <a:lnTo>
                    <a:pt x="513080" y="2790698"/>
                  </a:lnTo>
                  <a:lnTo>
                    <a:pt x="513080" y="2771648"/>
                  </a:lnTo>
                  <a:lnTo>
                    <a:pt x="513080" y="2790698"/>
                  </a:lnTo>
                  <a:cubicBezTo>
                    <a:pt x="229870" y="2790825"/>
                    <a:pt x="0" y="2562479"/>
                    <a:pt x="0" y="2280666"/>
                  </a:cubicBezTo>
                  <a:lnTo>
                    <a:pt x="0" y="510159"/>
                  </a:lnTo>
                  <a:lnTo>
                    <a:pt x="19050" y="510159"/>
                  </a:lnTo>
                  <a:lnTo>
                    <a:pt x="0" y="510159"/>
                  </a:lnTo>
                  <a:moveTo>
                    <a:pt x="38100" y="510159"/>
                  </a:moveTo>
                  <a:lnTo>
                    <a:pt x="38100" y="2280539"/>
                  </a:lnTo>
                  <a:lnTo>
                    <a:pt x="19050" y="2280539"/>
                  </a:lnTo>
                  <a:lnTo>
                    <a:pt x="38100" y="2280539"/>
                  </a:lnTo>
                  <a:cubicBezTo>
                    <a:pt x="38100" y="2541143"/>
                    <a:pt x="250698" y="2752598"/>
                    <a:pt x="513080" y="2752598"/>
                  </a:cubicBezTo>
                  <a:lnTo>
                    <a:pt x="4350258" y="2752598"/>
                  </a:lnTo>
                  <a:cubicBezTo>
                    <a:pt x="4612640" y="2752598"/>
                    <a:pt x="4825238" y="2541143"/>
                    <a:pt x="4825238" y="2280539"/>
                  </a:cubicBezTo>
                  <a:lnTo>
                    <a:pt x="4825238" y="510159"/>
                  </a:lnTo>
                  <a:cubicBezTo>
                    <a:pt x="4825238" y="249555"/>
                    <a:pt x="4612640" y="38100"/>
                    <a:pt x="4350258" y="38100"/>
                  </a:cubicBezTo>
                  <a:lnTo>
                    <a:pt x="513080" y="38100"/>
                  </a:lnTo>
                  <a:lnTo>
                    <a:pt x="513080" y="19050"/>
                  </a:lnTo>
                  <a:lnTo>
                    <a:pt x="513080" y="38100"/>
                  </a:lnTo>
                  <a:cubicBezTo>
                    <a:pt x="250698" y="38100"/>
                    <a:pt x="38100" y="249555"/>
                    <a:pt x="38100" y="510159"/>
                  </a:cubicBezTo>
                  <a:close/>
                </a:path>
              </a:pathLst>
            </a:custGeom>
            <a:solidFill>
              <a:srgbClr val="091231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13329942" y="7803204"/>
            <a:ext cx="2728465" cy="360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25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ROC-AUC Score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329942" y="8223199"/>
            <a:ext cx="3070622" cy="111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Measures the ability of the model to distinguish between classes.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518" b="-4518"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-339776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66800" y="1055691"/>
            <a:ext cx="16154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12"/>
              </a:lnSpc>
            </a:pPr>
            <a:r>
              <a:rPr lang="en-US" sz="4800" b="1" dirty="0" err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CardioShield</a:t>
            </a:r>
            <a:r>
              <a:rPr lang="en-US" sz="4800" b="1" dirty="0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 AI: Innovation, Impact &amp; Future Horizons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234355" y="2386165"/>
            <a:ext cx="6799507" cy="6361357"/>
            <a:chOff x="0" y="0"/>
            <a:chExt cx="9066009" cy="848180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66023" cy="8481823"/>
            </a:xfrm>
            <a:custGeom>
              <a:avLst/>
              <a:gdLst/>
              <a:ahLst/>
              <a:cxnLst/>
              <a:rect l="l" t="t" r="r" b="b"/>
              <a:pathLst>
                <a:path w="9066023" h="8481823">
                  <a:moveTo>
                    <a:pt x="0" y="704469"/>
                  </a:moveTo>
                  <a:cubicBezTo>
                    <a:pt x="0" y="315468"/>
                    <a:pt x="315468" y="0"/>
                    <a:pt x="704469" y="0"/>
                  </a:cubicBezTo>
                  <a:lnTo>
                    <a:pt x="8361553" y="0"/>
                  </a:lnTo>
                  <a:cubicBezTo>
                    <a:pt x="8750681" y="0"/>
                    <a:pt x="9066023" y="315468"/>
                    <a:pt x="9066023" y="704469"/>
                  </a:cubicBezTo>
                  <a:lnTo>
                    <a:pt x="9066023" y="7777353"/>
                  </a:lnTo>
                  <a:cubicBezTo>
                    <a:pt x="9066023" y="8166481"/>
                    <a:pt x="8750554" y="8481823"/>
                    <a:pt x="8361553" y="8481823"/>
                  </a:cubicBezTo>
                  <a:lnTo>
                    <a:pt x="704469" y="8481823"/>
                  </a:lnTo>
                  <a:cubicBezTo>
                    <a:pt x="315468" y="8481822"/>
                    <a:pt x="0" y="8166354"/>
                    <a:pt x="0" y="7777353"/>
                  </a:cubicBezTo>
                  <a:close/>
                </a:path>
              </a:pathLst>
            </a:custGeom>
            <a:solidFill>
              <a:srgbClr val="F9D2D6">
                <a:alpha val="56078"/>
              </a:srgbClr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2454478" y="2514600"/>
            <a:ext cx="3995290" cy="39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24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Immediate Impact &amp; Benefits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444953" y="3077166"/>
            <a:ext cx="3120180" cy="2984297"/>
            <a:chOff x="0" y="0"/>
            <a:chExt cx="4160241" cy="3979062"/>
          </a:xfrm>
        </p:grpSpPr>
        <p:sp>
          <p:nvSpPr>
            <p:cNvPr id="11" name="Freeform 11"/>
            <p:cNvSpPr/>
            <p:nvPr/>
          </p:nvSpPr>
          <p:spPr>
            <a:xfrm>
              <a:off x="12700" y="12700"/>
              <a:ext cx="4134866" cy="3953637"/>
            </a:xfrm>
            <a:custGeom>
              <a:avLst/>
              <a:gdLst/>
              <a:ahLst/>
              <a:cxnLst/>
              <a:rect l="l" t="t" r="r" b="b"/>
              <a:pathLst>
                <a:path w="4134866" h="3953637">
                  <a:moveTo>
                    <a:pt x="0" y="440309"/>
                  </a:moveTo>
                  <a:cubicBezTo>
                    <a:pt x="0" y="197104"/>
                    <a:pt x="197231" y="0"/>
                    <a:pt x="440436" y="0"/>
                  </a:cubicBezTo>
                  <a:lnTo>
                    <a:pt x="3694430" y="0"/>
                  </a:lnTo>
                  <a:cubicBezTo>
                    <a:pt x="3937635" y="0"/>
                    <a:pt x="4134866" y="197104"/>
                    <a:pt x="4134866" y="440309"/>
                  </a:cubicBezTo>
                  <a:lnTo>
                    <a:pt x="4134866" y="3513328"/>
                  </a:lnTo>
                  <a:cubicBezTo>
                    <a:pt x="4134866" y="3756533"/>
                    <a:pt x="3937635" y="3953637"/>
                    <a:pt x="3694430" y="3953637"/>
                  </a:cubicBezTo>
                  <a:lnTo>
                    <a:pt x="440436" y="3953637"/>
                  </a:lnTo>
                  <a:cubicBezTo>
                    <a:pt x="197231" y="3953637"/>
                    <a:pt x="0" y="3756533"/>
                    <a:pt x="0" y="3513328"/>
                  </a:cubicBezTo>
                  <a:close/>
                </a:path>
              </a:pathLst>
            </a:custGeom>
            <a:solidFill>
              <a:srgbClr val="F9D2D6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4160266" cy="3979037"/>
            </a:xfrm>
            <a:custGeom>
              <a:avLst/>
              <a:gdLst/>
              <a:ahLst/>
              <a:cxnLst/>
              <a:rect l="l" t="t" r="r" b="b"/>
              <a:pathLst>
                <a:path w="4160266" h="3979037">
                  <a:moveTo>
                    <a:pt x="0" y="453009"/>
                  </a:moveTo>
                  <a:cubicBezTo>
                    <a:pt x="0" y="202819"/>
                    <a:pt x="202819" y="0"/>
                    <a:pt x="453136" y="0"/>
                  </a:cubicBezTo>
                  <a:lnTo>
                    <a:pt x="3707130" y="0"/>
                  </a:lnTo>
                  <a:lnTo>
                    <a:pt x="3707130" y="12700"/>
                  </a:lnTo>
                  <a:lnTo>
                    <a:pt x="3707130" y="0"/>
                  </a:lnTo>
                  <a:cubicBezTo>
                    <a:pt x="3957320" y="0"/>
                    <a:pt x="4160266" y="202819"/>
                    <a:pt x="4160266" y="453009"/>
                  </a:cubicBezTo>
                  <a:lnTo>
                    <a:pt x="4147566" y="453009"/>
                  </a:lnTo>
                  <a:lnTo>
                    <a:pt x="4160266" y="453009"/>
                  </a:lnTo>
                  <a:lnTo>
                    <a:pt x="4160266" y="3526028"/>
                  </a:lnTo>
                  <a:lnTo>
                    <a:pt x="4147566" y="3526028"/>
                  </a:lnTo>
                  <a:lnTo>
                    <a:pt x="4160266" y="3526028"/>
                  </a:lnTo>
                  <a:cubicBezTo>
                    <a:pt x="4160266" y="3776218"/>
                    <a:pt x="3957447" y="3979037"/>
                    <a:pt x="3707130" y="3979037"/>
                  </a:cubicBezTo>
                  <a:lnTo>
                    <a:pt x="3707130" y="3966337"/>
                  </a:lnTo>
                  <a:lnTo>
                    <a:pt x="3707130" y="3979037"/>
                  </a:lnTo>
                  <a:lnTo>
                    <a:pt x="453136" y="3979037"/>
                  </a:lnTo>
                  <a:lnTo>
                    <a:pt x="453136" y="3966337"/>
                  </a:lnTo>
                  <a:lnTo>
                    <a:pt x="453136" y="3979037"/>
                  </a:lnTo>
                  <a:cubicBezTo>
                    <a:pt x="202819" y="3979037"/>
                    <a:pt x="0" y="3776218"/>
                    <a:pt x="0" y="3526028"/>
                  </a:cubicBezTo>
                  <a:lnTo>
                    <a:pt x="0" y="453009"/>
                  </a:lnTo>
                  <a:lnTo>
                    <a:pt x="12700" y="453009"/>
                  </a:lnTo>
                  <a:lnTo>
                    <a:pt x="0" y="453009"/>
                  </a:lnTo>
                  <a:moveTo>
                    <a:pt x="25400" y="453009"/>
                  </a:moveTo>
                  <a:lnTo>
                    <a:pt x="25400" y="3526028"/>
                  </a:lnTo>
                  <a:lnTo>
                    <a:pt x="12700" y="3526028"/>
                  </a:lnTo>
                  <a:lnTo>
                    <a:pt x="25400" y="3526028"/>
                  </a:lnTo>
                  <a:cubicBezTo>
                    <a:pt x="25400" y="3762121"/>
                    <a:pt x="216916" y="3953637"/>
                    <a:pt x="453136" y="3953637"/>
                  </a:cubicBezTo>
                  <a:lnTo>
                    <a:pt x="3707130" y="3953637"/>
                  </a:lnTo>
                  <a:cubicBezTo>
                    <a:pt x="3943350" y="3953637"/>
                    <a:pt x="4134866" y="3762248"/>
                    <a:pt x="4134866" y="3526028"/>
                  </a:cubicBezTo>
                  <a:lnTo>
                    <a:pt x="4134866" y="453009"/>
                  </a:lnTo>
                  <a:cubicBezTo>
                    <a:pt x="4134866" y="216789"/>
                    <a:pt x="3943350" y="25400"/>
                    <a:pt x="3707130" y="25400"/>
                  </a:cubicBezTo>
                  <a:lnTo>
                    <a:pt x="453136" y="25400"/>
                  </a:lnTo>
                  <a:lnTo>
                    <a:pt x="453136" y="12700"/>
                  </a:lnTo>
                  <a:lnTo>
                    <a:pt x="453136" y="25400"/>
                  </a:lnTo>
                  <a:cubicBezTo>
                    <a:pt x="216916" y="25400"/>
                    <a:pt x="25400" y="216789"/>
                    <a:pt x="25400" y="453009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2693641" y="3325863"/>
            <a:ext cx="660349" cy="660349"/>
            <a:chOff x="0" y="0"/>
            <a:chExt cx="880466" cy="88046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80491" cy="880491"/>
            </a:xfrm>
            <a:custGeom>
              <a:avLst/>
              <a:gdLst/>
              <a:ahLst/>
              <a:cxnLst/>
              <a:rect l="l" t="t" r="r" b="b"/>
              <a:pathLst>
                <a:path w="880491" h="880491">
                  <a:moveTo>
                    <a:pt x="0" y="440182"/>
                  </a:moveTo>
                  <a:cubicBezTo>
                    <a:pt x="0" y="197104"/>
                    <a:pt x="197104" y="0"/>
                    <a:pt x="440182" y="0"/>
                  </a:cubicBezTo>
                  <a:cubicBezTo>
                    <a:pt x="683260" y="0"/>
                    <a:pt x="880491" y="197104"/>
                    <a:pt x="880491" y="440182"/>
                  </a:cubicBezTo>
                  <a:cubicBezTo>
                    <a:pt x="880491" y="683260"/>
                    <a:pt x="683387" y="880491"/>
                    <a:pt x="440182" y="880491"/>
                  </a:cubicBezTo>
                  <a:cubicBezTo>
                    <a:pt x="196977" y="880491"/>
                    <a:pt x="0" y="683387"/>
                    <a:pt x="0" y="440182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sp>
        <p:nvSpPr>
          <p:cNvPr id="15" name="Freeform 15" descr="preencoded.png"/>
          <p:cNvSpPr/>
          <p:nvPr/>
        </p:nvSpPr>
        <p:spPr>
          <a:xfrm>
            <a:off x="2875207" y="3507429"/>
            <a:ext cx="297066" cy="297066"/>
          </a:xfrm>
          <a:custGeom>
            <a:avLst/>
            <a:gdLst/>
            <a:ahLst/>
            <a:cxnLst/>
            <a:rect l="l" t="t" r="r" b="b"/>
            <a:pathLst>
              <a:path w="297066" h="297066">
                <a:moveTo>
                  <a:pt x="0" y="0"/>
                </a:moveTo>
                <a:lnTo>
                  <a:pt x="297066" y="0"/>
                </a:lnTo>
                <a:lnTo>
                  <a:pt x="297066" y="297066"/>
                </a:lnTo>
                <a:lnTo>
                  <a:pt x="0" y="297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50000" b="-49996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693641" y="4105123"/>
            <a:ext cx="2445991" cy="343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Low-Cost Screening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693641" y="4567980"/>
            <a:ext cx="2622794" cy="1244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Democratizes early detection, making it accessible to a broader population.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703094" y="3077166"/>
            <a:ext cx="3120180" cy="2984297"/>
            <a:chOff x="0" y="0"/>
            <a:chExt cx="4160241" cy="3979062"/>
          </a:xfrm>
        </p:grpSpPr>
        <p:sp>
          <p:nvSpPr>
            <p:cNvPr id="19" name="Freeform 19"/>
            <p:cNvSpPr/>
            <p:nvPr/>
          </p:nvSpPr>
          <p:spPr>
            <a:xfrm>
              <a:off x="12700" y="12700"/>
              <a:ext cx="4134866" cy="3953637"/>
            </a:xfrm>
            <a:custGeom>
              <a:avLst/>
              <a:gdLst/>
              <a:ahLst/>
              <a:cxnLst/>
              <a:rect l="l" t="t" r="r" b="b"/>
              <a:pathLst>
                <a:path w="4134866" h="3953637">
                  <a:moveTo>
                    <a:pt x="0" y="440309"/>
                  </a:moveTo>
                  <a:cubicBezTo>
                    <a:pt x="0" y="197104"/>
                    <a:pt x="197231" y="0"/>
                    <a:pt x="440436" y="0"/>
                  </a:cubicBezTo>
                  <a:lnTo>
                    <a:pt x="3694430" y="0"/>
                  </a:lnTo>
                  <a:cubicBezTo>
                    <a:pt x="3937635" y="0"/>
                    <a:pt x="4134866" y="197104"/>
                    <a:pt x="4134866" y="440309"/>
                  </a:cubicBezTo>
                  <a:lnTo>
                    <a:pt x="4134866" y="3513328"/>
                  </a:lnTo>
                  <a:cubicBezTo>
                    <a:pt x="4134866" y="3756533"/>
                    <a:pt x="3937635" y="3953637"/>
                    <a:pt x="3694430" y="3953637"/>
                  </a:cubicBezTo>
                  <a:lnTo>
                    <a:pt x="440436" y="3953637"/>
                  </a:lnTo>
                  <a:cubicBezTo>
                    <a:pt x="197231" y="3953637"/>
                    <a:pt x="0" y="3756533"/>
                    <a:pt x="0" y="3513328"/>
                  </a:cubicBezTo>
                  <a:close/>
                </a:path>
              </a:pathLst>
            </a:custGeom>
            <a:solidFill>
              <a:srgbClr val="F9D2D6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0"/>
              <a:ext cx="4160266" cy="3979037"/>
            </a:xfrm>
            <a:custGeom>
              <a:avLst/>
              <a:gdLst/>
              <a:ahLst/>
              <a:cxnLst/>
              <a:rect l="l" t="t" r="r" b="b"/>
              <a:pathLst>
                <a:path w="4160266" h="3979037">
                  <a:moveTo>
                    <a:pt x="0" y="453009"/>
                  </a:moveTo>
                  <a:cubicBezTo>
                    <a:pt x="0" y="202819"/>
                    <a:pt x="202819" y="0"/>
                    <a:pt x="453136" y="0"/>
                  </a:cubicBezTo>
                  <a:lnTo>
                    <a:pt x="3707130" y="0"/>
                  </a:lnTo>
                  <a:lnTo>
                    <a:pt x="3707130" y="12700"/>
                  </a:lnTo>
                  <a:lnTo>
                    <a:pt x="3707130" y="0"/>
                  </a:lnTo>
                  <a:cubicBezTo>
                    <a:pt x="3957320" y="0"/>
                    <a:pt x="4160266" y="202819"/>
                    <a:pt x="4160266" y="453009"/>
                  </a:cubicBezTo>
                  <a:lnTo>
                    <a:pt x="4147566" y="453009"/>
                  </a:lnTo>
                  <a:lnTo>
                    <a:pt x="4160266" y="453009"/>
                  </a:lnTo>
                  <a:lnTo>
                    <a:pt x="4160266" y="3526028"/>
                  </a:lnTo>
                  <a:lnTo>
                    <a:pt x="4147566" y="3526028"/>
                  </a:lnTo>
                  <a:lnTo>
                    <a:pt x="4160266" y="3526028"/>
                  </a:lnTo>
                  <a:cubicBezTo>
                    <a:pt x="4160266" y="3776218"/>
                    <a:pt x="3957447" y="3979037"/>
                    <a:pt x="3707130" y="3979037"/>
                  </a:cubicBezTo>
                  <a:lnTo>
                    <a:pt x="3707130" y="3966337"/>
                  </a:lnTo>
                  <a:lnTo>
                    <a:pt x="3707130" y="3979037"/>
                  </a:lnTo>
                  <a:lnTo>
                    <a:pt x="453136" y="3979037"/>
                  </a:lnTo>
                  <a:lnTo>
                    <a:pt x="453136" y="3966337"/>
                  </a:lnTo>
                  <a:lnTo>
                    <a:pt x="453136" y="3979037"/>
                  </a:lnTo>
                  <a:cubicBezTo>
                    <a:pt x="202819" y="3979037"/>
                    <a:pt x="0" y="3776218"/>
                    <a:pt x="0" y="3526028"/>
                  </a:cubicBezTo>
                  <a:lnTo>
                    <a:pt x="0" y="453009"/>
                  </a:lnTo>
                  <a:lnTo>
                    <a:pt x="12700" y="453009"/>
                  </a:lnTo>
                  <a:lnTo>
                    <a:pt x="0" y="453009"/>
                  </a:lnTo>
                  <a:moveTo>
                    <a:pt x="25400" y="453009"/>
                  </a:moveTo>
                  <a:lnTo>
                    <a:pt x="25400" y="3526028"/>
                  </a:lnTo>
                  <a:lnTo>
                    <a:pt x="12700" y="3526028"/>
                  </a:lnTo>
                  <a:lnTo>
                    <a:pt x="25400" y="3526028"/>
                  </a:lnTo>
                  <a:cubicBezTo>
                    <a:pt x="25400" y="3762121"/>
                    <a:pt x="216916" y="3953637"/>
                    <a:pt x="453136" y="3953637"/>
                  </a:cubicBezTo>
                  <a:lnTo>
                    <a:pt x="3707130" y="3953637"/>
                  </a:lnTo>
                  <a:cubicBezTo>
                    <a:pt x="3943350" y="3953637"/>
                    <a:pt x="4134866" y="3762248"/>
                    <a:pt x="4134866" y="3526028"/>
                  </a:cubicBezTo>
                  <a:lnTo>
                    <a:pt x="4134866" y="453009"/>
                  </a:lnTo>
                  <a:cubicBezTo>
                    <a:pt x="4134866" y="216789"/>
                    <a:pt x="3943350" y="25400"/>
                    <a:pt x="3707130" y="25400"/>
                  </a:cubicBezTo>
                  <a:lnTo>
                    <a:pt x="453136" y="25400"/>
                  </a:lnTo>
                  <a:lnTo>
                    <a:pt x="453136" y="12700"/>
                  </a:lnTo>
                  <a:lnTo>
                    <a:pt x="453136" y="25400"/>
                  </a:lnTo>
                  <a:cubicBezTo>
                    <a:pt x="216916" y="25400"/>
                    <a:pt x="25400" y="216789"/>
                    <a:pt x="25400" y="453009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5951782" y="3325863"/>
            <a:ext cx="660349" cy="660349"/>
            <a:chOff x="0" y="0"/>
            <a:chExt cx="880466" cy="88046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80491" cy="880491"/>
            </a:xfrm>
            <a:custGeom>
              <a:avLst/>
              <a:gdLst/>
              <a:ahLst/>
              <a:cxnLst/>
              <a:rect l="l" t="t" r="r" b="b"/>
              <a:pathLst>
                <a:path w="880491" h="880491">
                  <a:moveTo>
                    <a:pt x="0" y="440182"/>
                  </a:moveTo>
                  <a:cubicBezTo>
                    <a:pt x="0" y="197104"/>
                    <a:pt x="197104" y="0"/>
                    <a:pt x="440182" y="0"/>
                  </a:cubicBezTo>
                  <a:cubicBezTo>
                    <a:pt x="683260" y="0"/>
                    <a:pt x="880491" y="197104"/>
                    <a:pt x="880491" y="440182"/>
                  </a:cubicBezTo>
                  <a:cubicBezTo>
                    <a:pt x="880491" y="683260"/>
                    <a:pt x="683387" y="880491"/>
                    <a:pt x="440182" y="880491"/>
                  </a:cubicBezTo>
                  <a:cubicBezTo>
                    <a:pt x="196977" y="880491"/>
                    <a:pt x="0" y="683387"/>
                    <a:pt x="0" y="440182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</p:grpSp>
      <p:sp>
        <p:nvSpPr>
          <p:cNvPr id="23" name="Freeform 23" descr="preencoded.png"/>
          <p:cNvSpPr/>
          <p:nvPr/>
        </p:nvSpPr>
        <p:spPr>
          <a:xfrm>
            <a:off x="6133357" y="3507429"/>
            <a:ext cx="297066" cy="297066"/>
          </a:xfrm>
          <a:custGeom>
            <a:avLst/>
            <a:gdLst/>
            <a:ahLst/>
            <a:cxnLst/>
            <a:rect l="l" t="t" r="r" b="b"/>
            <a:pathLst>
              <a:path w="297066" h="297066">
                <a:moveTo>
                  <a:pt x="0" y="0"/>
                </a:moveTo>
                <a:lnTo>
                  <a:pt x="297066" y="0"/>
                </a:lnTo>
                <a:lnTo>
                  <a:pt x="297066" y="297066"/>
                </a:lnTo>
                <a:lnTo>
                  <a:pt x="0" y="2970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5951782" y="4105123"/>
            <a:ext cx="2552252" cy="343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Preventive Healthcare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51782" y="4567980"/>
            <a:ext cx="2622794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Empowers individuals and clinicians with proactive risk assessment.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444953" y="6199432"/>
            <a:ext cx="6378331" cy="2380955"/>
            <a:chOff x="0" y="0"/>
            <a:chExt cx="8504441" cy="3174606"/>
          </a:xfrm>
        </p:grpSpPr>
        <p:sp>
          <p:nvSpPr>
            <p:cNvPr id="27" name="Freeform 27"/>
            <p:cNvSpPr/>
            <p:nvPr/>
          </p:nvSpPr>
          <p:spPr>
            <a:xfrm>
              <a:off x="12700" y="12700"/>
              <a:ext cx="8479028" cy="3149219"/>
            </a:xfrm>
            <a:custGeom>
              <a:avLst/>
              <a:gdLst/>
              <a:ahLst/>
              <a:cxnLst/>
              <a:rect l="l" t="t" r="r" b="b"/>
              <a:pathLst>
                <a:path w="8479028" h="3149219">
                  <a:moveTo>
                    <a:pt x="0" y="440309"/>
                  </a:moveTo>
                  <a:cubicBezTo>
                    <a:pt x="0" y="197104"/>
                    <a:pt x="198120" y="0"/>
                    <a:pt x="442468" y="0"/>
                  </a:cubicBezTo>
                  <a:lnTo>
                    <a:pt x="8036560" y="0"/>
                  </a:lnTo>
                  <a:cubicBezTo>
                    <a:pt x="8280908" y="0"/>
                    <a:pt x="8479028" y="197104"/>
                    <a:pt x="8479028" y="440309"/>
                  </a:cubicBezTo>
                  <a:lnTo>
                    <a:pt x="8479028" y="2708910"/>
                  </a:lnTo>
                  <a:cubicBezTo>
                    <a:pt x="8479028" y="2952115"/>
                    <a:pt x="8280908" y="3149219"/>
                    <a:pt x="8036560" y="3149219"/>
                  </a:cubicBezTo>
                  <a:lnTo>
                    <a:pt x="442468" y="3149219"/>
                  </a:lnTo>
                  <a:cubicBezTo>
                    <a:pt x="198120" y="3149219"/>
                    <a:pt x="0" y="2952115"/>
                    <a:pt x="0" y="2708910"/>
                  </a:cubicBezTo>
                  <a:close/>
                </a:path>
              </a:pathLst>
            </a:custGeom>
            <a:solidFill>
              <a:srgbClr val="F9D2D6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8504428" cy="3174619"/>
            </a:xfrm>
            <a:custGeom>
              <a:avLst/>
              <a:gdLst/>
              <a:ahLst/>
              <a:cxnLst/>
              <a:rect l="l" t="t" r="r" b="b"/>
              <a:pathLst>
                <a:path w="8504428" h="3174619">
                  <a:moveTo>
                    <a:pt x="0" y="453009"/>
                  </a:moveTo>
                  <a:cubicBezTo>
                    <a:pt x="0" y="202692"/>
                    <a:pt x="203835" y="0"/>
                    <a:pt x="455168" y="0"/>
                  </a:cubicBezTo>
                  <a:lnTo>
                    <a:pt x="8049260" y="0"/>
                  </a:lnTo>
                  <a:lnTo>
                    <a:pt x="8049260" y="12700"/>
                  </a:lnTo>
                  <a:lnTo>
                    <a:pt x="8049260" y="0"/>
                  </a:lnTo>
                  <a:cubicBezTo>
                    <a:pt x="8300593" y="0"/>
                    <a:pt x="8504428" y="202692"/>
                    <a:pt x="8504428" y="453009"/>
                  </a:cubicBezTo>
                  <a:lnTo>
                    <a:pt x="8491728" y="453009"/>
                  </a:lnTo>
                  <a:lnTo>
                    <a:pt x="8504428" y="453009"/>
                  </a:lnTo>
                  <a:lnTo>
                    <a:pt x="8504428" y="2721610"/>
                  </a:lnTo>
                  <a:lnTo>
                    <a:pt x="8491728" y="2721610"/>
                  </a:lnTo>
                  <a:lnTo>
                    <a:pt x="8504428" y="2721610"/>
                  </a:lnTo>
                  <a:cubicBezTo>
                    <a:pt x="8504428" y="2971800"/>
                    <a:pt x="8300593" y="3174619"/>
                    <a:pt x="8049260" y="3174619"/>
                  </a:cubicBezTo>
                  <a:lnTo>
                    <a:pt x="8049260" y="3161919"/>
                  </a:lnTo>
                  <a:lnTo>
                    <a:pt x="8049260" y="3174619"/>
                  </a:lnTo>
                  <a:lnTo>
                    <a:pt x="455168" y="3174619"/>
                  </a:lnTo>
                  <a:lnTo>
                    <a:pt x="455168" y="3161919"/>
                  </a:lnTo>
                  <a:lnTo>
                    <a:pt x="455168" y="3174619"/>
                  </a:lnTo>
                  <a:cubicBezTo>
                    <a:pt x="203835" y="3174619"/>
                    <a:pt x="0" y="2971800"/>
                    <a:pt x="0" y="2721610"/>
                  </a:cubicBezTo>
                  <a:lnTo>
                    <a:pt x="0" y="453009"/>
                  </a:lnTo>
                  <a:lnTo>
                    <a:pt x="12700" y="453009"/>
                  </a:lnTo>
                  <a:lnTo>
                    <a:pt x="0" y="453009"/>
                  </a:lnTo>
                  <a:moveTo>
                    <a:pt x="25400" y="453009"/>
                  </a:moveTo>
                  <a:lnTo>
                    <a:pt x="25400" y="2721610"/>
                  </a:lnTo>
                  <a:lnTo>
                    <a:pt x="12700" y="2721610"/>
                  </a:lnTo>
                  <a:lnTo>
                    <a:pt x="25400" y="2721610"/>
                  </a:lnTo>
                  <a:cubicBezTo>
                    <a:pt x="25400" y="2957703"/>
                    <a:pt x="217805" y="3149219"/>
                    <a:pt x="455168" y="3149219"/>
                  </a:cubicBezTo>
                  <a:lnTo>
                    <a:pt x="8049260" y="3149219"/>
                  </a:lnTo>
                  <a:cubicBezTo>
                    <a:pt x="8286750" y="3149219"/>
                    <a:pt x="8479028" y="2957703"/>
                    <a:pt x="8479028" y="2721610"/>
                  </a:cubicBezTo>
                  <a:lnTo>
                    <a:pt x="8479028" y="453009"/>
                  </a:lnTo>
                  <a:cubicBezTo>
                    <a:pt x="8479028" y="216916"/>
                    <a:pt x="8286623" y="25400"/>
                    <a:pt x="8049260" y="25400"/>
                  </a:cubicBezTo>
                  <a:lnTo>
                    <a:pt x="455168" y="25400"/>
                  </a:lnTo>
                  <a:lnTo>
                    <a:pt x="455168" y="12700"/>
                  </a:lnTo>
                  <a:lnTo>
                    <a:pt x="455168" y="25400"/>
                  </a:lnTo>
                  <a:cubicBezTo>
                    <a:pt x="217805" y="25400"/>
                    <a:pt x="25400" y="216916"/>
                    <a:pt x="25400" y="453009"/>
                  </a:cubicBezTo>
                  <a:close/>
                </a:path>
              </a:pathLst>
            </a:custGeom>
            <a:solidFill>
              <a:srgbClr val="37A7E7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2693641" y="6448130"/>
            <a:ext cx="660349" cy="660349"/>
            <a:chOff x="0" y="0"/>
            <a:chExt cx="880466" cy="88046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80491" cy="880491"/>
            </a:xfrm>
            <a:custGeom>
              <a:avLst/>
              <a:gdLst/>
              <a:ahLst/>
              <a:cxnLst/>
              <a:rect l="l" t="t" r="r" b="b"/>
              <a:pathLst>
                <a:path w="880491" h="880491">
                  <a:moveTo>
                    <a:pt x="0" y="440182"/>
                  </a:moveTo>
                  <a:cubicBezTo>
                    <a:pt x="0" y="197104"/>
                    <a:pt x="197104" y="0"/>
                    <a:pt x="440182" y="0"/>
                  </a:cubicBezTo>
                  <a:cubicBezTo>
                    <a:pt x="683260" y="0"/>
                    <a:pt x="880491" y="197104"/>
                    <a:pt x="880491" y="440182"/>
                  </a:cubicBezTo>
                  <a:cubicBezTo>
                    <a:pt x="880491" y="683260"/>
                    <a:pt x="683387" y="880491"/>
                    <a:pt x="440182" y="880491"/>
                  </a:cubicBezTo>
                  <a:cubicBezTo>
                    <a:pt x="196977" y="880491"/>
                    <a:pt x="0" y="683387"/>
                    <a:pt x="0" y="440182"/>
                  </a:cubicBezTo>
                  <a:close/>
                </a:path>
              </a:pathLst>
            </a:custGeom>
            <a:solidFill>
              <a:srgbClr val="37A7E7"/>
            </a:solidFill>
          </p:spPr>
        </p:sp>
      </p:grpSp>
      <p:sp>
        <p:nvSpPr>
          <p:cNvPr id="31" name="Freeform 31" descr="preencoded.png"/>
          <p:cNvSpPr/>
          <p:nvPr/>
        </p:nvSpPr>
        <p:spPr>
          <a:xfrm>
            <a:off x="2875207" y="6629695"/>
            <a:ext cx="297066" cy="297066"/>
          </a:xfrm>
          <a:custGeom>
            <a:avLst/>
            <a:gdLst/>
            <a:ahLst/>
            <a:cxnLst/>
            <a:rect l="l" t="t" r="r" b="b"/>
            <a:pathLst>
              <a:path w="297066" h="297066">
                <a:moveTo>
                  <a:pt x="0" y="0"/>
                </a:moveTo>
                <a:lnTo>
                  <a:pt x="297066" y="0"/>
                </a:lnTo>
                <a:lnTo>
                  <a:pt x="297066" y="297066"/>
                </a:lnTo>
                <a:lnTo>
                  <a:pt x="0" y="2970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2693641" y="7227389"/>
            <a:ext cx="2445991" cy="343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Scalability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693641" y="7690247"/>
            <a:ext cx="5880945" cy="641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Designed for deployment in diverse settings, including underserved rural areas.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421863" y="2514600"/>
            <a:ext cx="3013177" cy="39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249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Future Enhancements</a:t>
            </a:r>
          </a:p>
        </p:txBody>
      </p:sp>
      <p:sp>
        <p:nvSpPr>
          <p:cNvPr id="35" name="Freeform 35" descr="preencoded.png"/>
          <p:cNvSpPr/>
          <p:nvPr/>
        </p:nvSpPr>
        <p:spPr>
          <a:xfrm>
            <a:off x="9504464" y="3093396"/>
            <a:ext cx="330098" cy="330098"/>
          </a:xfrm>
          <a:custGeom>
            <a:avLst/>
            <a:gdLst/>
            <a:ahLst/>
            <a:cxnLst/>
            <a:rect l="l" t="t" r="r" b="b"/>
            <a:pathLst>
              <a:path w="330098" h="330098">
                <a:moveTo>
                  <a:pt x="0" y="0"/>
                </a:moveTo>
                <a:lnTo>
                  <a:pt x="330098" y="0"/>
                </a:lnTo>
                <a:lnTo>
                  <a:pt x="330098" y="330099"/>
                </a:lnTo>
                <a:lnTo>
                  <a:pt x="0" y="330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572" r="-8569"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0137277" y="3048591"/>
            <a:ext cx="2722807" cy="343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Hospital API Integration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137277" y="3511448"/>
            <a:ext cx="5767092" cy="641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Seamless data exchange with existing electronic health record systems.</a:t>
            </a:r>
          </a:p>
        </p:txBody>
      </p:sp>
      <p:sp>
        <p:nvSpPr>
          <p:cNvPr id="38" name="Freeform 38" descr="preencoded.png"/>
          <p:cNvSpPr/>
          <p:nvPr/>
        </p:nvSpPr>
        <p:spPr>
          <a:xfrm>
            <a:off x="9504464" y="4473626"/>
            <a:ext cx="330098" cy="330098"/>
          </a:xfrm>
          <a:custGeom>
            <a:avLst/>
            <a:gdLst/>
            <a:ahLst/>
            <a:cxnLst/>
            <a:rect l="l" t="t" r="r" b="b"/>
            <a:pathLst>
              <a:path w="330098" h="330098">
                <a:moveTo>
                  <a:pt x="0" y="0"/>
                </a:moveTo>
                <a:lnTo>
                  <a:pt x="330098" y="0"/>
                </a:lnTo>
                <a:lnTo>
                  <a:pt x="330098" y="330098"/>
                </a:lnTo>
                <a:lnTo>
                  <a:pt x="0" y="3300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8572" r="-8569"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10137277" y="4428830"/>
            <a:ext cx="3262608" cy="343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Wearable Device Integration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137277" y="4891678"/>
            <a:ext cx="5767092" cy="641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Leveraging continuous data streams from smartwatches and fitness trackers.</a:t>
            </a:r>
          </a:p>
        </p:txBody>
      </p:sp>
      <p:sp>
        <p:nvSpPr>
          <p:cNvPr id="41" name="Freeform 41" descr="preencoded.png"/>
          <p:cNvSpPr/>
          <p:nvPr/>
        </p:nvSpPr>
        <p:spPr>
          <a:xfrm>
            <a:off x="9504464" y="5853855"/>
            <a:ext cx="330098" cy="330098"/>
          </a:xfrm>
          <a:custGeom>
            <a:avLst/>
            <a:gdLst/>
            <a:ahLst/>
            <a:cxnLst/>
            <a:rect l="l" t="t" r="r" b="b"/>
            <a:pathLst>
              <a:path w="330098" h="330098">
                <a:moveTo>
                  <a:pt x="0" y="0"/>
                </a:moveTo>
                <a:lnTo>
                  <a:pt x="330098" y="0"/>
                </a:lnTo>
                <a:lnTo>
                  <a:pt x="330098" y="330099"/>
                </a:lnTo>
                <a:lnTo>
                  <a:pt x="0" y="33009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8572" r="-8569"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10137277" y="5809059"/>
            <a:ext cx="2445991" cy="343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Mobile App Version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137277" y="6271917"/>
            <a:ext cx="5767092" cy="641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Providing a user-friendly interface for on-the-go risk assessment.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80049" y="1089127"/>
            <a:ext cx="15988751" cy="1111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312"/>
              </a:lnSpc>
            </a:pPr>
            <a:r>
              <a:rPr lang="en-US" sz="7437" b="1" dirty="0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0049" y="2782491"/>
            <a:ext cx="16127911" cy="1399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CardioShield AI – Early Detection. Smarter Prevention. Healthier Lives.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80049" y="4511878"/>
            <a:ext cx="16127911" cy="750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0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Hackathon: NavKalpana AI Innovation Challenge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80049" y="5763730"/>
            <a:ext cx="16127911" cy="48073"/>
            <a:chOff x="0" y="0"/>
            <a:chExt cx="21503881" cy="640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503894" cy="64135"/>
            </a:xfrm>
            <a:custGeom>
              <a:avLst/>
              <a:gdLst/>
              <a:ahLst/>
              <a:cxnLst/>
              <a:rect l="l" t="t" r="r" b="b"/>
              <a:pathLst>
                <a:path w="21503894" h="64135">
                  <a:moveTo>
                    <a:pt x="0" y="0"/>
                  </a:moveTo>
                  <a:lnTo>
                    <a:pt x="21503894" y="0"/>
                  </a:lnTo>
                  <a:lnTo>
                    <a:pt x="21503894" y="64135"/>
                  </a:lnTo>
                  <a:lnTo>
                    <a:pt x="0" y="64135"/>
                  </a:lnTo>
                  <a:close/>
                </a:path>
              </a:pathLst>
            </a:custGeom>
            <a:solidFill>
              <a:srgbClr val="E0E4E6">
                <a:alpha val="24706"/>
              </a:srgbClr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080049" y="6054033"/>
            <a:ext cx="16127911" cy="3067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Team Name:</a:t>
            </a: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NavKalpana-RICR-NK-0046</a:t>
            </a:r>
          </a:p>
          <a:p>
            <a:pPr algn="l">
              <a:lnSpc>
                <a:spcPts val="3875"/>
              </a:lnSpc>
            </a:pPr>
            <a:r>
              <a:rPr lang="en-US" sz="2375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Presented By:</a:t>
            </a: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Shivansh Dhakad (Team Lead &amp; Backend)</a:t>
            </a:r>
          </a:p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Aman Kumar Pandey (Data Analysis &amp; Preprocessing)</a:t>
            </a:r>
          </a:p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Sonu Yadav (Model Building &amp; Shap Analysis)</a:t>
            </a:r>
          </a:p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Tanishka Sharma (Frontend &amp; Real Word Analysis)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824</Words>
  <Application>Microsoft Office PowerPoint</Application>
  <PresentationFormat>Custom</PresentationFormat>
  <Paragraphs>153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Arimo Bold</vt:lpstr>
      <vt:lpstr>Barlow Bold</vt:lpstr>
      <vt:lpstr>Calibri</vt:lpstr>
      <vt:lpstr>Barlow Italics</vt:lpstr>
      <vt:lpstr>Barlow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CardioShield-AI.pptx</dc:title>
  <dc:creator>Shivansh dhakad</dc:creator>
  <cp:lastModifiedBy>Shivansh dhakad</cp:lastModifiedBy>
  <cp:revision>4</cp:revision>
  <dcterms:created xsi:type="dcterms:W3CDTF">2006-08-16T00:00:00Z</dcterms:created>
  <dcterms:modified xsi:type="dcterms:W3CDTF">2026-02-26T10:04:07Z</dcterms:modified>
  <dc:identifier>DAHCPPyo80c</dc:identifier>
</cp:coreProperties>
</file>